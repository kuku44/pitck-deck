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00" b="0" i="0">
                <a:solidFill>
                  <a:srgbClr val="041225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50" b="0" i="0">
                <a:solidFill>
                  <a:srgbClr val="151515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0" i="0">
                <a:solidFill>
                  <a:srgbClr val="041225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150" b="0" i="0">
                <a:solidFill>
                  <a:srgbClr val="151515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0" i="0">
                <a:solidFill>
                  <a:srgbClr val="041225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0" i="0">
                <a:solidFill>
                  <a:srgbClr val="041225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3737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80055" y="-34258"/>
            <a:ext cx="11412855" cy="817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00" b="0" i="0">
                <a:solidFill>
                  <a:srgbClr val="041225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70212" y="2215803"/>
            <a:ext cx="9228455" cy="6833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50" b="0" i="0">
                <a:solidFill>
                  <a:srgbClr val="151515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png"/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15.png"/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jpeg"/><Relationship Id="rId8" Type="http://schemas.openxmlformats.org/officeDocument/2006/relationships/image" Target="../media/image26.png"/><Relationship Id="rId7" Type="http://schemas.openxmlformats.org/officeDocument/2006/relationships/image" Target="../media/image25.png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30.png"/><Relationship Id="rId11" Type="http://schemas.openxmlformats.org/officeDocument/2006/relationships/image" Target="../media/image29.png"/><Relationship Id="rId10" Type="http://schemas.openxmlformats.org/officeDocument/2006/relationships/image" Target="../media/image28.png"/><Relationship Id="rId1" Type="http://schemas.openxmlformats.org/officeDocument/2006/relationships/image" Target="../media/image19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9.jpeg"/><Relationship Id="rId8" Type="http://schemas.openxmlformats.org/officeDocument/2006/relationships/image" Target="../media/image38.jpeg"/><Relationship Id="rId7" Type="http://schemas.openxmlformats.org/officeDocument/2006/relationships/image" Target="../media/image37.jpeg"/><Relationship Id="rId6" Type="http://schemas.openxmlformats.org/officeDocument/2006/relationships/image" Target="../media/image36.jpe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8" Type="http://schemas.openxmlformats.org/officeDocument/2006/relationships/slideLayout" Target="../slideLayouts/slideLayout2.xml"/><Relationship Id="rId17" Type="http://schemas.openxmlformats.org/officeDocument/2006/relationships/image" Target="../media/image47.png"/><Relationship Id="rId16" Type="http://schemas.openxmlformats.org/officeDocument/2006/relationships/image" Target="../media/image46.png"/><Relationship Id="rId15" Type="http://schemas.openxmlformats.org/officeDocument/2006/relationships/image" Target="../media/image45.jpeg"/><Relationship Id="rId14" Type="http://schemas.openxmlformats.org/officeDocument/2006/relationships/image" Target="../media/image44.png"/><Relationship Id="rId13" Type="http://schemas.openxmlformats.org/officeDocument/2006/relationships/image" Target="../media/image43.png"/><Relationship Id="rId12" Type="http://schemas.openxmlformats.org/officeDocument/2006/relationships/image" Target="../media/image42.png"/><Relationship Id="rId11" Type="http://schemas.openxmlformats.org/officeDocument/2006/relationships/image" Target="../media/image41.png"/><Relationship Id="rId10" Type="http://schemas.openxmlformats.org/officeDocument/2006/relationships/image" Target="../media/image40.png"/><Relationship Id="rId1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48.jpe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2.png"/><Relationship Id="rId3" Type="http://schemas.openxmlformats.org/officeDocument/2006/relationships/image" Target="../media/image51.png"/><Relationship Id="rId2" Type="http://schemas.openxmlformats.org/officeDocument/2006/relationships/image" Target="../media/image50.jpeg"/><Relationship Id="rId1" Type="http://schemas.openxmlformats.org/officeDocument/2006/relationships/image" Target="../media/image4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3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18288000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28644" y="0"/>
              <a:ext cx="4324349" cy="50387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45086" y="0"/>
              <a:ext cx="7553324" cy="50387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36918" y="5965352"/>
              <a:ext cx="133349" cy="1333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6918" y="7032152"/>
              <a:ext cx="133349" cy="13334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6918" y="8098952"/>
              <a:ext cx="133349" cy="13334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886664" y="4891507"/>
            <a:ext cx="13049885" cy="4030345"/>
          </a:xfrm>
          <a:prstGeom prst="rect">
            <a:avLst/>
          </a:prstGeom>
        </p:spPr>
        <p:txBody>
          <a:bodyPr vert="horz" wrap="square" lIns="0" tIns="221615" rIns="0" bIns="0" rtlCol="0">
            <a:spAutoFit/>
          </a:bodyPr>
          <a:lstStyle/>
          <a:p>
            <a:pPr marL="2531745">
              <a:lnSpc>
                <a:spcPct val="100000"/>
              </a:lnSpc>
              <a:spcBef>
                <a:spcPts val="1745"/>
              </a:spcBef>
            </a:pPr>
            <a:r>
              <a:rPr sz="305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MOBILITY</a:t>
            </a:r>
            <a:r>
              <a:rPr sz="3050" spc="-2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05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IN</a:t>
            </a:r>
            <a:r>
              <a:rPr sz="3050" spc="-2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050" spc="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KAKUMA</a:t>
            </a:r>
            <a:r>
              <a:rPr sz="3050" spc="-2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050" spc="-3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IS</a:t>
            </a:r>
            <a:r>
              <a:rPr sz="3050" spc="-2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05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BROKEN.</a:t>
            </a:r>
            <a:endParaRPr sz="3050">
              <a:latin typeface="Verdana" panose="020B0604030504040204"/>
              <a:cs typeface="Verdana" panose="020B0604030504040204"/>
            </a:endParaRPr>
          </a:p>
          <a:p>
            <a:pPr marL="685165" marR="677545" algn="ctr">
              <a:lnSpc>
                <a:spcPct val="117000"/>
              </a:lnSpc>
              <a:spcBef>
                <a:spcPts val="1025"/>
              </a:spcBef>
            </a:pPr>
            <a:r>
              <a:rPr sz="30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Bullet</a:t>
            </a:r>
            <a:r>
              <a:rPr sz="3000" spc="-3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000" spc="-4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1:</a:t>
            </a:r>
            <a:r>
              <a:rPr sz="3000" spc="-2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0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Unsafe:</a:t>
            </a:r>
            <a:r>
              <a:rPr sz="3000" spc="-2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0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No</a:t>
            </a:r>
            <a:r>
              <a:rPr sz="3000" spc="-2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trip</a:t>
            </a:r>
            <a:r>
              <a:rPr sz="3000" spc="-2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0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tracking</a:t>
            </a:r>
            <a:r>
              <a:rPr sz="3000" spc="-2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0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or</a:t>
            </a:r>
            <a:r>
              <a:rPr sz="3000" spc="-2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0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driver</a:t>
            </a:r>
            <a:r>
              <a:rPr sz="3000" spc="-2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0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vetting</a:t>
            </a:r>
            <a:r>
              <a:rPr sz="3000" spc="-2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0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for</a:t>
            </a:r>
            <a:r>
              <a:rPr sz="3000" spc="-2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vulnerable populations.</a:t>
            </a:r>
            <a:endParaRPr sz="3000">
              <a:latin typeface="Verdana" panose="020B0604030504040204"/>
              <a:cs typeface="Verdana" panose="020B0604030504040204"/>
            </a:endParaRPr>
          </a:p>
          <a:p>
            <a:pPr marL="12700" marR="5080" algn="ctr">
              <a:lnSpc>
                <a:spcPts val="4200"/>
              </a:lnSpc>
              <a:spcBef>
                <a:spcPts val="240"/>
              </a:spcBef>
            </a:pPr>
            <a:r>
              <a:rPr sz="30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Bullet</a:t>
            </a:r>
            <a:r>
              <a:rPr sz="3000" spc="-2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000" spc="-4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2:</a:t>
            </a:r>
            <a:r>
              <a:rPr sz="3000" spc="-2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0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Unpredictable:</a:t>
            </a:r>
            <a:r>
              <a:rPr sz="3000" spc="-2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0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Informal</a:t>
            </a:r>
            <a:r>
              <a:rPr sz="3000" spc="-2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0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fares</a:t>
            </a:r>
            <a:r>
              <a:rPr sz="3000" spc="-2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0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fluctuate</a:t>
            </a:r>
            <a:r>
              <a:rPr sz="3000" spc="-2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0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wildly;</a:t>
            </a:r>
            <a:r>
              <a:rPr sz="3000" spc="-2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price</a:t>
            </a:r>
            <a:r>
              <a:rPr sz="3000" spc="-2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000" spc="-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gouging</a:t>
            </a:r>
            <a:r>
              <a:rPr sz="3000" spc="-2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0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is </a:t>
            </a:r>
            <a:r>
              <a:rPr sz="30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common.</a:t>
            </a:r>
            <a:endParaRPr sz="3000">
              <a:latin typeface="Verdana" panose="020B0604030504040204"/>
              <a:cs typeface="Verdana" panose="020B0604030504040204"/>
            </a:endParaRPr>
          </a:p>
          <a:p>
            <a:pPr marL="285115" marR="277495" algn="ctr">
              <a:lnSpc>
                <a:spcPts val="4200"/>
              </a:lnSpc>
            </a:pPr>
            <a:r>
              <a:rPr sz="30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Bullet</a:t>
            </a:r>
            <a:r>
              <a:rPr sz="3000" spc="-3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000" spc="-3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3:</a:t>
            </a:r>
            <a:r>
              <a:rPr sz="3000" spc="-2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0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Exclusive:</a:t>
            </a:r>
            <a:r>
              <a:rPr sz="3000" spc="-2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0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Standard</a:t>
            </a:r>
            <a:r>
              <a:rPr sz="3000" spc="-2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0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apps</a:t>
            </a:r>
            <a:r>
              <a:rPr sz="3000" spc="-2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0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fail</a:t>
            </a:r>
            <a:r>
              <a:rPr sz="3000" spc="-2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0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due</a:t>
            </a:r>
            <a:r>
              <a:rPr sz="3000" spc="-2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0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to</a:t>
            </a:r>
            <a:r>
              <a:rPr sz="3000" spc="-2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0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low</a:t>
            </a:r>
            <a:r>
              <a:rPr sz="3000" spc="-2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0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smartphone</a:t>
            </a:r>
            <a:r>
              <a:rPr sz="3000" spc="-2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000" spc="-20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&amp;</a:t>
            </a:r>
            <a:r>
              <a:rPr sz="3000" spc="-2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0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data </a:t>
            </a:r>
            <a:r>
              <a:rPr sz="30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penetration.</a:t>
            </a:r>
            <a:endParaRPr sz="30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3067049" cy="39623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78459" y="0"/>
              <a:ext cx="3190874" cy="39433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31569" y="0"/>
              <a:ext cx="2724149" cy="3962399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297798" y="4317396"/>
            <a:ext cx="7300595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70" dirty="0">
                <a:solidFill>
                  <a:srgbClr val="000000"/>
                </a:solidFill>
              </a:rPr>
              <a:t>app</a:t>
            </a:r>
            <a:r>
              <a:rPr spc="-509" dirty="0">
                <a:solidFill>
                  <a:srgbClr val="000000"/>
                </a:solidFill>
              </a:rPr>
              <a:t> </a:t>
            </a:r>
            <a:r>
              <a:rPr spc="-390" dirty="0">
                <a:solidFill>
                  <a:srgbClr val="000000"/>
                </a:solidFill>
              </a:rPr>
              <a:t>name</a:t>
            </a:r>
            <a:r>
              <a:rPr spc="-505" dirty="0">
                <a:solidFill>
                  <a:srgbClr val="000000"/>
                </a:solidFill>
              </a:rPr>
              <a:t> </a:t>
            </a:r>
            <a:r>
              <a:rPr spc="-425" dirty="0">
                <a:solidFill>
                  <a:srgbClr val="000000"/>
                </a:solidFill>
              </a:rPr>
              <a:t>is</a:t>
            </a:r>
            <a:r>
              <a:rPr spc="-505" dirty="0">
                <a:solidFill>
                  <a:srgbClr val="000000"/>
                </a:solidFill>
              </a:rPr>
              <a:t> </a:t>
            </a:r>
            <a:r>
              <a:rPr spc="-484" dirty="0">
                <a:solidFill>
                  <a:srgbClr val="000000"/>
                </a:solidFill>
              </a:rPr>
              <a:t>kakumago</a:t>
            </a:r>
            <a:endParaRPr spc="-484" dirty="0">
              <a:solidFill>
                <a:srgbClr val="000000"/>
              </a:solidFill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1908" y="6123708"/>
            <a:ext cx="831850" cy="3251835"/>
            <a:chOff x="31908" y="6123708"/>
            <a:chExt cx="831850" cy="325183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908" y="6123708"/>
              <a:ext cx="152400" cy="1523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1041" y="8022762"/>
              <a:ext cx="152400" cy="1523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1041" y="8622837"/>
              <a:ext cx="152400" cy="15239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1041" y="9222912"/>
              <a:ext cx="152400" cy="15239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81753" y="5898315"/>
            <a:ext cx="1619758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35" dirty="0">
                <a:latin typeface="Verdana" panose="020B0604030504040204"/>
                <a:cs typeface="Verdana" panose="020B0604030504040204"/>
              </a:rPr>
              <a:t>Sub-</a:t>
            </a:r>
            <a:r>
              <a:rPr sz="3400" spc="-105" dirty="0">
                <a:latin typeface="Verdana" panose="020B0604030504040204"/>
                <a:cs typeface="Verdana" panose="020B0604030504040204"/>
              </a:rPr>
              <a:t>headline:</a:t>
            </a:r>
            <a:r>
              <a:rPr sz="34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80" dirty="0">
                <a:latin typeface="Verdana" panose="020B0604030504040204"/>
                <a:cs typeface="Verdana" panose="020B0604030504040204"/>
              </a:rPr>
              <a:t>Safe,</a:t>
            </a:r>
            <a:r>
              <a:rPr sz="3400" spc="-31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65" dirty="0">
                <a:latin typeface="Verdana" panose="020B0604030504040204"/>
                <a:cs typeface="Verdana" panose="020B0604030504040204"/>
              </a:rPr>
              <a:t>accessible,</a:t>
            </a:r>
            <a:r>
              <a:rPr sz="3400" spc="-31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60" dirty="0">
                <a:latin typeface="Verdana" panose="020B0604030504040204"/>
                <a:cs typeface="Verdana" panose="020B0604030504040204"/>
              </a:rPr>
              <a:t>and</a:t>
            </a:r>
            <a:r>
              <a:rPr sz="3400" spc="-31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30" dirty="0">
                <a:latin typeface="Verdana" panose="020B0604030504040204"/>
                <a:cs typeface="Verdana" panose="020B0604030504040204"/>
              </a:rPr>
              <a:t>localized</a:t>
            </a:r>
            <a:r>
              <a:rPr sz="3400" spc="-31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35" dirty="0">
                <a:latin typeface="Verdana" panose="020B0604030504040204"/>
                <a:cs typeface="Verdana" panose="020B0604030504040204"/>
              </a:rPr>
              <a:t>mobility</a:t>
            </a:r>
            <a:r>
              <a:rPr sz="3400" spc="-31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dirty="0">
                <a:latin typeface="Verdana" panose="020B0604030504040204"/>
                <a:cs typeface="Verdana" panose="020B0604030504040204"/>
              </a:rPr>
              <a:t>for</a:t>
            </a:r>
            <a:r>
              <a:rPr sz="3400" spc="-31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200" dirty="0">
                <a:latin typeface="Verdana" panose="020B0604030504040204"/>
                <a:cs typeface="Verdana" panose="020B0604030504040204"/>
              </a:rPr>
              <a:t>Kakuma</a:t>
            </a:r>
            <a:r>
              <a:rPr sz="3400" spc="-31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229" dirty="0">
                <a:latin typeface="Verdana" panose="020B0604030504040204"/>
                <a:cs typeface="Verdana" panose="020B0604030504040204"/>
              </a:rPr>
              <a:t>&amp;</a:t>
            </a:r>
            <a:r>
              <a:rPr sz="34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0" dirty="0">
                <a:latin typeface="Verdana" panose="020B0604030504040204"/>
                <a:cs typeface="Verdana" panose="020B0604030504040204"/>
              </a:rPr>
              <a:t>Kalobeyei.</a:t>
            </a:r>
            <a:endParaRPr sz="34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60886" y="7715415"/>
            <a:ext cx="15518130" cy="182562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45"/>
              </a:spcBef>
            </a:pPr>
            <a:r>
              <a:rPr sz="3400" dirty="0">
                <a:latin typeface="Verdana" panose="020B0604030504040204"/>
                <a:cs typeface="Verdana" panose="020B0604030504040204"/>
              </a:rPr>
              <a:t>Col</a:t>
            </a:r>
            <a:r>
              <a:rPr sz="3400" spc="-34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505" dirty="0">
                <a:latin typeface="Verdana" panose="020B0604030504040204"/>
                <a:cs typeface="Verdana" panose="020B0604030504040204"/>
              </a:rPr>
              <a:t>1:</a:t>
            </a:r>
            <a:r>
              <a:rPr sz="3400" spc="-31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55" dirty="0">
                <a:latin typeface="Verdana" panose="020B0604030504040204"/>
                <a:cs typeface="Verdana" panose="020B0604030504040204"/>
              </a:rPr>
              <a:t>Dual</a:t>
            </a:r>
            <a:r>
              <a:rPr sz="3400" spc="-33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10" dirty="0">
                <a:latin typeface="Verdana" panose="020B0604030504040204"/>
                <a:cs typeface="Verdana" panose="020B0604030504040204"/>
              </a:rPr>
              <a:t>Access:</a:t>
            </a:r>
            <a:r>
              <a:rPr sz="34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85" dirty="0">
                <a:latin typeface="Verdana" panose="020B0604030504040204"/>
                <a:cs typeface="Verdana" panose="020B0604030504040204"/>
              </a:rPr>
              <a:t>Lightweight</a:t>
            </a:r>
            <a:r>
              <a:rPr sz="34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25" dirty="0">
                <a:latin typeface="Verdana" panose="020B0604030504040204"/>
                <a:cs typeface="Verdana" panose="020B0604030504040204"/>
              </a:rPr>
              <a:t>app</a:t>
            </a:r>
            <a:r>
              <a:rPr sz="34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035" dirty="0">
                <a:latin typeface="Verdana" panose="020B0604030504040204"/>
                <a:cs typeface="Verdana" panose="020B0604030504040204"/>
              </a:rPr>
              <a:t>+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50" dirty="0">
                <a:latin typeface="Verdana" panose="020B0604030504040204"/>
                <a:cs typeface="Verdana" panose="020B0604030504040204"/>
              </a:rPr>
              <a:t>USSD</a:t>
            </a:r>
            <a:r>
              <a:rPr sz="34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dirty="0">
                <a:latin typeface="Verdana" panose="020B0604030504040204"/>
                <a:cs typeface="Verdana" panose="020B0604030504040204"/>
              </a:rPr>
              <a:t>for</a:t>
            </a:r>
            <a:r>
              <a:rPr sz="34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35" dirty="0">
                <a:latin typeface="Verdana" panose="020B0604030504040204"/>
                <a:cs typeface="Verdana" panose="020B0604030504040204"/>
              </a:rPr>
              <a:t>basic</a:t>
            </a:r>
            <a:r>
              <a:rPr sz="34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0" dirty="0">
                <a:latin typeface="Verdana" panose="020B0604030504040204"/>
                <a:cs typeface="Verdana" panose="020B0604030504040204"/>
              </a:rPr>
              <a:t>phones.</a:t>
            </a:r>
            <a:endParaRPr sz="3400">
              <a:latin typeface="Verdana" panose="020B0604030504040204"/>
              <a:cs typeface="Verdana" panose="020B0604030504040204"/>
            </a:endParaRPr>
          </a:p>
          <a:p>
            <a:pPr algn="ctr">
              <a:lnSpc>
                <a:spcPct val="100000"/>
              </a:lnSpc>
              <a:spcBef>
                <a:spcPts val="645"/>
              </a:spcBef>
            </a:pPr>
            <a:r>
              <a:rPr sz="3400" dirty="0">
                <a:latin typeface="Verdana" panose="020B0604030504040204"/>
                <a:cs typeface="Verdana" panose="020B0604030504040204"/>
              </a:rPr>
              <a:t>Col</a:t>
            </a:r>
            <a:r>
              <a:rPr sz="3400" spc="-33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475" dirty="0">
                <a:latin typeface="Verdana" panose="020B0604030504040204"/>
                <a:cs typeface="Verdana" panose="020B0604030504040204"/>
              </a:rPr>
              <a:t>2:</a:t>
            </a:r>
            <a:r>
              <a:rPr sz="3400" spc="-30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30" dirty="0">
                <a:latin typeface="Verdana" panose="020B0604030504040204"/>
                <a:cs typeface="Verdana" panose="020B0604030504040204"/>
              </a:rPr>
              <a:t>Verified</a:t>
            </a:r>
            <a:r>
              <a:rPr sz="3400" spc="-33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35" dirty="0">
                <a:latin typeface="Verdana" panose="020B0604030504040204"/>
                <a:cs typeface="Verdana" panose="020B0604030504040204"/>
              </a:rPr>
              <a:t>Drivers:</a:t>
            </a:r>
            <a:r>
              <a:rPr sz="3400" spc="-31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30" dirty="0">
                <a:latin typeface="Verdana" panose="020B0604030504040204"/>
                <a:cs typeface="Verdana" panose="020B0604030504040204"/>
              </a:rPr>
              <a:t>Strict</a:t>
            </a:r>
            <a:r>
              <a:rPr sz="3400" spc="-31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70" dirty="0">
                <a:latin typeface="Verdana" panose="020B0604030504040204"/>
                <a:cs typeface="Verdana" panose="020B0604030504040204"/>
              </a:rPr>
              <a:t>vetting</a:t>
            </a:r>
            <a:r>
              <a:rPr sz="3400" spc="-31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60" dirty="0">
                <a:latin typeface="Verdana" panose="020B0604030504040204"/>
                <a:cs typeface="Verdana" panose="020B0604030504040204"/>
              </a:rPr>
              <a:t>and</a:t>
            </a:r>
            <a:r>
              <a:rPr sz="3400" spc="-31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65" dirty="0">
                <a:latin typeface="Verdana" panose="020B0604030504040204"/>
                <a:cs typeface="Verdana" panose="020B0604030504040204"/>
              </a:rPr>
              <a:t>safety</a:t>
            </a:r>
            <a:r>
              <a:rPr sz="3400" spc="-31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85" dirty="0">
                <a:latin typeface="Verdana" panose="020B0604030504040204"/>
                <a:cs typeface="Verdana" panose="020B0604030504040204"/>
              </a:rPr>
              <a:t>training</a:t>
            </a:r>
            <a:r>
              <a:rPr sz="3400" spc="-31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dirty="0">
                <a:latin typeface="Verdana" panose="020B0604030504040204"/>
                <a:cs typeface="Verdana" panose="020B0604030504040204"/>
              </a:rPr>
              <a:t>for</a:t>
            </a:r>
            <a:r>
              <a:rPr sz="3400" spc="-31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dirty="0">
                <a:latin typeface="Verdana" panose="020B0604030504040204"/>
                <a:cs typeface="Verdana" panose="020B0604030504040204"/>
              </a:rPr>
              <a:t>local</a:t>
            </a:r>
            <a:r>
              <a:rPr sz="3400" spc="-31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0" dirty="0">
                <a:latin typeface="Verdana" panose="020B0604030504040204"/>
                <a:cs typeface="Verdana" panose="020B0604030504040204"/>
              </a:rPr>
              <a:t>transport.</a:t>
            </a:r>
            <a:endParaRPr sz="3400">
              <a:latin typeface="Verdana" panose="020B0604030504040204"/>
              <a:cs typeface="Verdana" panose="020B0604030504040204"/>
            </a:endParaRPr>
          </a:p>
          <a:p>
            <a:pPr algn="ctr">
              <a:lnSpc>
                <a:spcPct val="100000"/>
              </a:lnSpc>
              <a:spcBef>
                <a:spcPts val="645"/>
              </a:spcBef>
            </a:pPr>
            <a:r>
              <a:rPr sz="3400" dirty="0">
                <a:latin typeface="Verdana" panose="020B0604030504040204"/>
                <a:cs typeface="Verdana" panose="020B0604030504040204"/>
              </a:rPr>
              <a:t>Col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409" dirty="0">
                <a:latin typeface="Verdana" panose="020B0604030504040204"/>
                <a:cs typeface="Verdana" panose="020B0604030504040204"/>
              </a:rPr>
              <a:t>3:</a:t>
            </a:r>
            <a:r>
              <a:rPr sz="3400" spc="-30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30" dirty="0">
                <a:latin typeface="Verdana" panose="020B0604030504040204"/>
                <a:cs typeface="Verdana" panose="020B0604030504040204"/>
              </a:rPr>
              <a:t>Cashless:</a:t>
            </a:r>
            <a:r>
              <a:rPr sz="3400" spc="-30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25" dirty="0">
                <a:latin typeface="Verdana" panose="020B0604030504040204"/>
                <a:cs typeface="Verdana" panose="020B0604030504040204"/>
              </a:rPr>
              <a:t>Seamless</a:t>
            </a:r>
            <a:r>
              <a:rPr sz="3400" spc="-30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45" dirty="0">
                <a:latin typeface="Verdana" panose="020B0604030504040204"/>
                <a:cs typeface="Verdana" panose="020B0604030504040204"/>
              </a:rPr>
              <a:t>M-</a:t>
            </a:r>
            <a:r>
              <a:rPr sz="3400" spc="-80" dirty="0">
                <a:latin typeface="Verdana" panose="020B0604030504040204"/>
                <a:cs typeface="Verdana" panose="020B0604030504040204"/>
              </a:rPr>
              <a:t>Pesa</a:t>
            </a:r>
            <a:r>
              <a:rPr sz="3400" spc="-30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70" dirty="0">
                <a:latin typeface="Verdana" panose="020B0604030504040204"/>
                <a:cs typeface="Verdana" panose="020B0604030504040204"/>
              </a:rPr>
              <a:t>integration</a:t>
            </a:r>
            <a:r>
              <a:rPr sz="3400" spc="-30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dirty="0">
                <a:latin typeface="Verdana" panose="020B0604030504040204"/>
                <a:cs typeface="Verdana" panose="020B0604030504040204"/>
              </a:rPr>
              <a:t>for</a:t>
            </a:r>
            <a:r>
              <a:rPr sz="3400" spc="-30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65" dirty="0">
                <a:latin typeface="Verdana" panose="020B0604030504040204"/>
                <a:cs typeface="Verdana" panose="020B0604030504040204"/>
              </a:rPr>
              <a:t>transparent</a:t>
            </a:r>
            <a:r>
              <a:rPr sz="3400" spc="-30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0" dirty="0">
                <a:latin typeface="Verdana" panose="020B0604030504040204"/>
                <a:cs typeface="Verdana" panose="020B0604030504040204"/>
              </a:rPr>
              <a:t>pricing.</a:t>
            </a:r>
            <a:endParaRPr sz="34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779950" y="3147981"/>
              <a:ext cx="4627396" cy="308750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30903" y="3147981"/>
              <a:ext cx="4497618" cy="316832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06468" y="3355459"/>
              <a:ext cx="1493696" cy="84018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507647" y="3200424"/>
              <a:ext cx="1494155" cy="3065145"/>
            </a:xfrm>
            <a:custGeom>
              <a:avLst/>
              <a:gdLst/>
              <a:ahLst/>
              <a:cxnLst/>
              <a:rect l="l" t="t" r="r" b="b"/>
              <a:pathLst>
                <a:path w="1494154" h="3065145">
                  <a:moveTo>
                    <a:pt x="1493837" y="995972"/>
                  </a:moveTo>
                  <a:lnTo>
                    <a:pt x="0" y="995972"/>
                  </a:lnTo>
                  <a:lnTo>
                    <a:pt x="0" y="2912313"/>
                  </a:lnTo>
                  <a:lnTo>
                    <a:pt x="7772" y="2960497"/>
                  </a:lnTo>
                  <a:lnTo>
                    <a:pt x="29413" y="3002356"/>
                  </a:lnTo>
                  <a:lnTo>
                    <a:pt x="62420" y="3035350"/>
                  </a:lnTo>
                  <a:lnTo>
                    <a:pt x="104279" y="3056991"/>
                  </a:lnTo>
                  <a:lnTo>
                    <a:pt x="152463" y="3064764"/>
                  </a:lnTo>
                  <a:lnTo>
                    <a:pt x="1341374" y="3064764"/>
                  </a:lnTo>
                  <a:lnTo>
                    <a:pt x="1389570" y="3056991"/>
                  </a:lnTo>
                  <a:lnTo>
                    <a:pt x="1431417" y="3035350"/>
                  </a:lnTo>
                  <a:lnTo>
                    <a:pt x="1464424" y="3002356"/>
                  </a:lnTo>
                  <a:lnTo>
                    <a:pt x="1486065" y="2960497"/>
                  </a:lnTo>
                  <a:lnTo>
                    <a:pt x="1493837" y="2912313"/>
                  </a:lnTo>
                  <a:lnTo>
                    <a:pt x="1493837" y="995972"/>
                  </a:lnTo>
                  <a:close/>
                </a:path>
                <a:path w="1494154" h="3065145">
                  <a:moveTo>
                    <a:pt x="1493837" y="152463"/>
                  </a:moveTo>
                  <a:lnTo>
                    <a:pt x="1486065" y="104279"/>
                  </a:lnTo>
                  <a:lnTo>
                    <a:pt x="1464424" y="62420"/>
                  </a:lnTo>
                  <a:lnTo>
                    <a:pt x="1431417" y="29413"/>
                  </a:lnTo>
                  <a:lnTo>
                    <a:pt x="1389570" y="7772"/>
                  </a:lnTo>
                  <a:lnTo>
                    <a:pt x="1341374" y="0"/>
                  </a:lnTo>
                  <a:lnTo>
                    <a:pt x="152463" y="0"/>
                  </a:lnTo>
                  <a:lnTo>
                    <a:pt x="104279" y="7772"/>
                  </a:lnTo>
                  <a:lnTo>
                    <a:pt x="62420" y="29413"/>
                  </a:lnTo>
                  <a:lnTo>
                    <a:pt x="29413" y="62420"/>
                  </a:lnTo>
                  <a:lnTo>
                    <a:pt x="7772" y="104279"/>
                  </a:lnTo>
                  <a:lnTo>
                    <a:pt x="0" y="152463"/>
                  </a:lnTo>
                  <a:lnTo>
                    <a:pt x="0" y="155714"/>
                  </a:lnTo>
                  <a:lnTo>
                    <a:pt x="1493837" y="155714"/>
                  </a:lnTo>
                  <a:lnTo>
                    <a:pt x="1493837" y="152463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28540" y="3148579"/>
              <a:ext cx="1661512" cy="316721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780686" y="156837"/>
              <a:ext cx="4867274" cy="3248024"/>
            </a:xfrm>
            <a:prstGeom prst="rect">
              <a:avLst/>
            </a:prstGeom>
          </p:spPr>
        </p:pic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2202023" y="122578"/>
            <a:ext cx="1059180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0" dirty="0">
                <a:solidFill>
                  <a:srgbClr val="000000"/>
                </a:solidFill>
              </a:rPr>
              <a:t>Built</a:t>
            </a:r>
            <a:r>
              <a:rPr spc="-495" dirty="0">
                <a:solidFill>
                  <a:srgbClr val="000000"/>
                </a:solidFill>
              </a:rPr>
              <a:t> </a:t>
            </a:r>
            <a:r>
              <a:rPr spc="-140" dirty="0">
                <a:solidFill>
                  <a:srgbClr val="000000"/>
                </a:solidFill>
              </a:rPr>
              <a:t>for</a:t>
            </a:r>
            <a:r>
              <a:rPr spc="-490" dirty="0">
                <a:solidFill>
                  <a:srgbClr val="000000"/>
                </a:solidFill>
              </a:rPr>
              <a:t> </a:t>
            </a:r>
            <a:r>
              <a:rPr spc="-270" dirty="0">
                <a:solidFill>
                  <a:srgbClr val="000000"/>
                </a:solidFill>
              </a:rPr>
              <a:t>the</a:t>
            </a:r>
            <a:r>
              <a:rPr spc="-495" dirty="0">
                <a:solidFill>
                  <a:srgbClr val="000000"/>
                </a:solidFill>
              </a:rPr>
              <a:t> </a:t>
            </a:r>
            <a:r>
              <a:rPr spc="-390" dirty="0">
                <a:solidFill>
                  <a:srgbClr val="000000"/>
                </a:solidFill>
              </a:rPr>
              <a:t>Realities</a:t>
            </a:r>
            <a:r>
              <a:rPr spc="-490" dirty="0">
                <a:solidFill>
                  <a:srgbClr val="000000"/>
                </a:solidFill>
              </a:rPr>
              <a:t> </a:t>
            </a:r>
            <a:r>
              <a:rPr spc="-125" dirty="0">
                <a:solidFill>
                  <a:srgbClr val="000000"/>
                </a:solidFill>
              </a:rPr>
              <a:t>of</a:t>
            </a:r>
            <a:r>
              <a:rPr spc="-490" dirty="0">
                <a:solidFill>
                  <a:srgbClr val="000000"/>
                </a:solidFill>
              </a:rPr>
              <a:t> </a:t>
            </a:r>
            <a:r>
              <a:rPr spc="-434" dirty="0">
                <a:solidFill>
                  <a:srgbClr val="000000"/>
                </a:solidFill>
              </a:rPr>
              <a:t>Turkana.</a:t>
            </a:r>
            <a:endParaRPr spc="-434" dirty="0">
              <a:solidFill>
                <a:srgbClr val="000000"/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7649" y="7367879"/>
            <a:ext cx="17593945" cy="208280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20"/>
              </a:spcBef>
            </a:pPr>
            <a:r>
              <a:rPr sz="3900" spc="-595" dirty="0">
                <a:latin typeface="Verdana" panose="020B0604030504040204"/>
                <a:cs typeface="Verdana" panose="020B0604030504040204"/>
              </a:rPr>
              <a:t>1:</a:t>
            </a:r>
            <a:r>
              <a:rPr sz="3900" spc="-390" dirty="0">
                <a:latin typeface="Verdana" panose="020B0604030504040204"/>
                <a:cs typeface="Verdana" panose="020B0604030504040204"/>
              </a:rPr>
              <a:t> </a:t>
            </a:r>
            <a:r>
              <a:rPr sz="3900" spc="-180" dirty="0">
                <a:latin typeface="Verdana" panose="020B0604030504040204"/>
                <a:cs typeface="Verdana" panose="020B0604030504040204"/>
              </a:rPr>
              <a:t>Rider:</a:t>
            </a:r>
            <a:r>
              <a:rPr sz="3900" spc="-390" dirty="0">
                <a:latin typeface="Verdana" panose="020B0604030504040204"/>
                <a:cs typeface="Verdana" panose="020B0604030504040204"/>
              </a:rPr>
              <a:t> </a:t>
            </a:r>
            <a:r>
              <a:rPr sz="3900" spc="-500" dirty="0">
                <a:latin typeface="Verdana" panose="020B0604030504040204"/>
                <a:cs typeface="Verdana" panose="020B0604030504040204"/>
              </a:rPr>
              <a:t>1-</a:t>
            </a:r>
            <a:r>
              <a:rPr sz="3900" spc="-30" dirty="0">
                <a:latin typeface="Verdana" panose="020B0604030504040204"/>
                <a:cs typeface="Verdana" panose="020B0604030504040204"/>
              </a:rPr>
              <a:t>tap</a:t>
            </a:r>
            <a:r>
              <a:rPr sz="3900" spc="-390" dirty="0">
                <a:latin typeface="Verdana" panose="020B0604030504040204"/>
                <a:cs typeface="Verdana" panose="020B0604030504040204"/>
              </a:rPr>
              <a:t> </a:t>
            </a:r>
            <a:r>
              <a:rPr sz="3900" spc="-95" dirty="0">
                <a:latin typeface="Verdana" panose="020B0604030504040204"/>
                <a:cs typeface="Verdana" panose="020B0604030504040204"/>
              </a:rPr>
              <a:t>booking</a:t>
            </a:r>
            <a:r>
              <a:rPr sz="3900" spc="-390" dirty="0">
                <a:latin typeface="Verdana" panose="020B0604030504040204"/>
                <a:cs typeface="Verdana" panose="020B0604030504040204"/>
              </a:rPr>
              <a:t> </a:t>
            </a:r>
            <a:r>
              <a:rPr sz="3900" spc="-10" dirty="0">
                <a:latin typeface="Verdana" panose="020B0604030504040204"/>
                <a:cs typeface="Verdana" panose="020B0604030504040204"/>
              </a:rPr>
              <a:t>or</a:t>
            </a:r>
            <a:r>
              <a:rPr sz="3900" spc="-390" dirty="0">
                <a:latin typeface="Verdana" panose="020B0604030504040204"/>
                <a:cs typeface="Verdana" panose="020B0604030504040204"/>
              </a:rPr>
              <a:t> </a:t>
            </a:r>
            <a:r>
              <a:rPr sz="3900" spc="-65" dirty="0">
                <a:latin typeface="Verdana" panose="020B0604030504040204"/>
                <a:cs typeface="Verdana" panose="020B0604030504040204"/>
              </a:rPr>
              <a:t>simple</a:t>
            </a:r>
            <a:r>
              <a:rPr sz="3900" spc="-390" dirty="0">
                <a:latin typeface="Verdana" panose="020B0604030504040204"/>
                <a:cs typeface="Verdana" panose="020B0604030504040204"/>
              </a:rPr>
              <a:t> </a:t>
            </a:r>
            <a:r>
              <a:rPr sz="3900" spc="-450" dirty="0">
                <a:latin typeface="Verdana" panose="020B0604030504040204"/>
                <a:cs typeface="Verdana" panose="020B0604030504040204"/>
              </a:rPr>
              <a:t>*123#</a:t>
            </a:r>
            <a:r>
              <a:rPr sz="3900" spc="-390" dirty="0">
                <a:latin typeface="Verdana" panose="020B0604030504040204"/>
                <a:cs typeface="Verdana" panose="020B0604030504040204"/>
              </a:rPr>
              <a:t> </a:t>
            </a:r>
            <a:r>
              <a:rPr sz="3900" spc="-175" dirty="0">
                <a:latin typeface="Verdana" panose="020B0604030504040204"/>
                <a:cs typeface="Verdana" panose="020B0604030504040204"/>
              </a:rPr>
              <a:t>USSD</a:t>
            </a:r>
            <a:r>
              <a:rPr sz="3900" spc="-390" dirty="0">
                <a:latin typeface="Verdana" panose="020B0604030504040204"/>
                <a:cs typeface="Verdana" panose="020B0604030504040204"/>
              </a:rPr>
              <a:t> </a:t>
            </a:r>
            <a:r>
              <a:rPr sz="3900" spc="-10" dirty="0">
                <a:latin typeface="Verdana" panose="020B0604030504040204"/>
                <a:cs typeface="Verdana" panose="020B0604030504040204"/>
              </a:rPr>
              <a:t>code.</a:t>
            </a:r>
            <a:endParaRPr sz="3900">
              <a:latin typeface="Verdana" panose="020B0604030504040204"/>
              <a:cs typeface="Verdana" panose="020B0604030504040204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sz="3900" spc="-560" dirty="0">
                <a:latin typeface="Verdana" panose="020B0604030504040204"/>
                <a:cs typeface="Verdana" panose="020B0604030504040204"/>
              </a:rPr>
              <a:t>2:</a:t>
            </a:r>
            <a:r>
              <a:rPr sz="3900" spc="-385" dirty="0">
                <a:latin typeface="Verdana" panose="020B0604030504040204"/>
                <a:cs typeface="Verdana" panose="020B0604030504040204"/>
              </a:rPr>
              <a:t> </a:t>
            </a:r>
            <a:r>
              <a:rPr sz="3900" spc="-180" dirty="0">
                <a:latin typeface="Verdana" panose="020B0604030504040204"/>
                <a:cs typeface="Verdana" panose="020B0604030504040204"/>
              </a:rPr>
              <a:t>Driver:</a:t>
            </a:r>
            <a:r>
              <a:rPr sz="3900" spc="-380" dirty="0">
                <a:latin typeface="Verdana" panose="020B0604030504040204"/>
                <a:cs typeface="Verdana" panose="020B0604030504040204"/>
              </a:rPr>
              <a:t> </a:t>
            </a:r>
            <a:r>
              <a:rPr sz="3900" spc="-100" dirty="0">
                <a:latin typeface="Verdana" panose="020B0604030504040204"/>
                <a:cs typeface="Verdana" panose="020B0604030504040204"/>
              </a:rPr>
              <a:t>Low-</a:t>
            </a:r>
            <a:r>
              <a:rPr sz="3900" spc="-75" dirty="0">
                <a:latin typeface="Verdana" panose="020B0604030504040204"/>
                <a:cs typeface="Verdana" panose="020B0604030504040204"/>
              </a:rPr>
              <a:t>data</a:t>
            </a:r>
            <a:r>
              <a:rPr sz="3900" spc="-380" dirty="0">
                <a:latin typeface="Verdana" panose="020B0604030504040204"/>
                <a:cs typeface="Verdana" panose="020B0604030504040204"/>
              </a:rPr>
              <a:t> </a:t>
            </a:r>
            <a:r>
              <a:rPr sz="3900" spc="-105" dirty="0">
                <a:latin typeface="Verdana" panose="020B0604030504040204"/>
                <a:cs typeface="Verdana" panose="020B0604030504040204"/>
              </a:rPr>
              <a:t>mapping</a:t>
            </a:r>
            <a:r>
              <a:rPr sz="3900" spc="-380" dirty="0">
                <a:latin typeface="Verdana" panose="020B0604030504040204"/>
                <a:cs typeface="Verdana" panose="020B0604030504040204"/>
              </a:rPr>
              <a:t> </a:t>
            </a:r>
            <a:r>
              <a:rPr sz="3900" spc="-260" dirty="0">
                <a:latin typeface="Verdana" panose="020B0604030504040204"/>
                <a:cs typeface="Verdana" panose="020B0604030504040204"/>
              </a:rPr>
              <a:t>&amp;</a:t>
            </a:r>
            <a:r>
              <a:rPr sz="3900" spc="-380" dirty="0">
                <a:latin typeface="Verdana" panose="020B0604030504040204"/>
                <a:cs typeface="Verdana" panose="020B0604030504040204"/>
              </a:rPr>
              <a:t> </a:t>
            </a:r>
            <a:r>
              <a:rPr sz="3900" spc="-55" dirty="0">
                <a:latin typeface="Verdana" panose="020B0604030504040204"/>
                <a:cs typeface="Verdana" panose="020B0604030504040204"/>
              </a:rPr>
              <a:t>daily</a:t>
            </a:r>
            <a:r>
              <a:rPr sz="3900" spc="-385" dirty="0">
                <a:latin typeface="Verdana" panose="020B0604030504040204"/>
                <a:cs typeface="Verdana" panose="020B0604030504040204"/>
              </a:rPr>
              <a:t> </a:t>
            </a:r>
            <a:r>
              <a:rPr sz="3900" spc="-50" dirty="0">
                <a:latin typeface="Verdana" panose="020B0604030504040204"/>
                <a:cs typeface="Verdana" panose="020B0604030504040204"/>
              </a:rPr>
              <a:t>M-</a:t>
            </a:r>
            <a:r>
              <a:rPr sz="3900" spc="-85" dirty="0">
                <a:latin typeface="Verdana" panose="020B0604030504040204"/>
                <a:cs typeface="Verdana" panose="020B0604030504040204"/>
              </a:rPr>
              <a:t>Pesa</a:t>
            </a:r>
            <a:r>
              <a:rPr sz="3900" spc="-380" dirty="0">
                <a:latin typeface="Verdana" panose="020B0604030504040204"/>
                <a:cs typeface="Verdana" panose="020B0604030504040204"/>
              </a:rPr>
              <a:t> </a:t>
            </a:r>
            <a:r>
              <a:rPr sz="3900" spc="-120" dirty="0">
                <a:latin typeface="Verdana" panose="020B0604030504040204"/>
                <a:cs typeface="Verdana" panose="020B0604030504040204"/>
              </a:rPr>
              <a:t>earnings</a:t>
            </a:r>
            <a:r>
              <a:rPr sz="3900" spc="-380" dirty="0">
                <a:latin typeface="Verdana" panose="020B0604030504040204"/>
                <a:cs typeface="Verdana" panose="020B0604030504040204"/>
              </a:rPr>
              <a:t> </a:t>
            </a:r>
            <a:r>
              <a:rPr sz="3900" spc="-10" dirty="0">
                <a:latin typeface="Verdana" panose="020B0604030504040204"/>
                <a:cs typeface="Verdana" panose="020B0604030504040204"/>
              </a:rPr>
              <a:t>dashboard.</a:t>
            </a:r>
            <a:endParaRPr sz="3900">
              <a:latin typeface="Verdana" panose="020B0604030504040204"/>
              <a:cs typeface="Verdana" panose="020B0604030504040204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sz="3900" spc="-500" dirty="0">
                <a:latin typeface="Verdana" panose="020B0604030504040204"/>
                <a:cs typeface="Verdana" panose="020B0604030504040204"/>
              </a:rPr>
              <a:t>3:</a:t>
            </a:r>
            <a:r>
              <a:rPr sz="3900" spc="-380" dirty="0">
                <a:latin typeface="Verdana" panose="020B0604030504040204"/>
                <a:cs typeface="Verdana" panose="020B0604030504040204"/>
              </a:rPr>
              <a:t> </a:t>
            </a:r>
            <a:r>
              <a:rPr sz="3900" spc="-200" dirty="0">
                <a:latin typeface="Verdana" panose="020B0604030504040204"/>
                <a:cs typeface="Verdana" panose="020B0604030504040204"/>
              </a:rPr>
              <a:t>Safety:</a:t>
            </a:r>
            <a:r>
              <a:rPr sz="3900" spc="-380" dirty="0">
                <a:latin typeface="Verdana" panose="020B0604030504040204"/>
                <a:cs typeface="Verdana" panose="020B0604030504040204"/>
              </a:rPr>
              <a:t> </a:t>
            </a:r>
            <a:r>
              <a:rPr sz="3900" spc="-215" dirty="0">
                <a:latin typeface="Verdana" panose="020B0604030504040204"/>
                <a:cs typeface="Verdana" panose="020B0604030504040204"/>
              </a:rPr>
              <a:t>SOS</a:t>
            </a:r>
            <a:r>
              <a:rPr sz="3900" spc="-380" dirty="0">
                <a:latin typeface="Verdana" panose="020B0604030504040204"/>
                <a:cs typeface="Verdana" panose="020B0604030504040204"/>
              </a:rPr>
              <a:t> </a:t>
            </a:r>
            <a:r>
              <a:rPr sz="3900" dirty="0">
                <a:latin typeface="Verdana" panose="020B0604030504040204"/>
                <a:cs typeface="Verdana" panose="020B0604030504040204"/>
              </a:rPr>
              <a:t>button</a:t>
            </a:r>
            <a:r>
              <a:rPr sz="3900" spc="-380" dirty="0">
                <a:latin typeface="Verdana" panose="020B0604030504040204"/>
                <a:cs typeface="Verdana" panose="020B0604030504040204"/>
              </a:rPr>
              <a:t> </a:t>
            </a:r>
            <a:r>
              <a:rPr sz="3900" spc="-55" dirty="0">
                <a:latin typeface="Verdana" panose="020B0604030504040204"/>
                <a:cs typeface="Verdana" panose="020B0604030504040204"/>
              </a:rPr>
              <a:t>instantly</a:t>
            </a:r>
            <a:r>
              <a:rPr sz="3900" spc="-380" dirty="0">
                <a:latin typeface="Verdana" panose="020B0604030504040204"/>
                <a:cs typeface="Verdana" panose="020B0604030504040204"/>
              </a:rPr>
              <a:t> </a:t>
            </a:r>
            <a:r>
              <a:rPr sz="3900" spc="-65" dirty="0">
                <a:latin typeface="Verdana" panose="020B0604030504040204"/>
                <a:cs typeface="Verdana" panose="020B0604030504040204"/>
              </a:rPr>
              <a:t>alerts</a:t>
            </a:r>
            <a:r>
              <a:rPr sz="3900" spc="-380" dirty="0">
                <a:latin typeface="Verdana" panose="020B0604030504040204"/>
                <a:cs typeface="Verdana" panose="020B0604030504040204"/>
              </a:rPr>
              <a:t> </a:t>
            </a:r>
            <a:r>
              <a:rPr sz="3900" spc="-65" dirty="0">
                <a:latin typeface="Verdana" panose="020B0604030504040204"/>
                <a:cs typeface="Verdana" panose="020B0604030504040204"/>
              </a:rPr>
              <a:t>camp</a:t>
            </a:r>
            <a:r>
              <a:rPr sz="3900" spc="-380" dirty="0">
                <a:latin typeface="Verdana" panose="020B0604030504040204"/>
                <a:cs typeface="Verdana" panose="020B0604030504040204"/>
              </a:rPr>
              <a:t> </a:t>
            </a:r>
            <a:r>
              <a:rPr sz="3900" spc="-50" dirty="0">
                <a:latin typeface="Verdana" panose="020B0604030504040204"/>
                <a:cs typeface="Verdana" panose="020B0604030504040204"/>
              </a:rPr>
              <a:t>security</a:t>
            </a:r>
            <a:r>
              <a:rPr sz="3900" spc="-380" dirty="0">
                <a:latin typeface="Verdana" panose="020B0604030504040204"/>
                <a:cs typeface="Verdana" panose="020B0604030504040204"/>
              </a:rPr>
              <a:t> </a:t>
            </a:r>
            <a:r>
              <a:rPr sz="3900" spc="-260" dirty="0">
                <a:latin typeface="Verdana" panose="020B0604030504040204"/>
                <a:cs typeface="Verdana" panose="020B0604030504040204"/>
              </a:rPr>
              <a:t>&amp;</a:t>
            </a:r>
            <a:r>
              <a:rPr sz="3900" spc="-375" dirty="0">
                <a:latin typeface="Verdana" panose="020B0604030504040204"/>
                <a:cs typeface="Verdana" panose="020B0604030504040204"/>
              </a:rPr>
              <a:t> </a:t>
            </a:r>
            <a:r>
              <a:rPr sz="3900" spc="-70" dirty="0">
                <a:latin typeface="Verdana" panose="020B0604030504040204"/>
                <a:cs typeface="Verdana" panose="020B0604030504040204"/>
              </a:rPr>
              <a:t>community</a:t>
            </a:r>
            <a:r>
              <a:rPr sz="3900" spc="-380" dirty="0">
                <a:latin typeface="Verdana" panose="020B0604030504040204"/>
                <a:cs typeface="Verdana" panose="020B0604030504040204"/>
              </a:rPr>
              <a:t> </a:t>
            </a:r>
            <a:r>
              <a:rPr sz="3900" spc="-10" dirty="0">
                <a:latin typeface="Verdana" panose="020B0604030504040204"/>
                <a:cs typeface="Verdana" panose="020B0604030504040204"/>
              </a:rPr>
              <a:t>leaders.</a:t>
            </a:r>
            <a:endParaRPr sz="39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18288000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494870" cy="34861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93190" y="0"/>
              <a:ext cx="5172074" cy="3438524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577737" y="3606196"/>
            <a:ext cx="8688705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5" dirty="0">
                <a:solidFill>
                  <a:srgbClr val="000000"/>
                </a:solidFill>
              </a:rPr>
              <a:t>Who</a:t>
            </a:r>
            <a:r>
              <a:rPr spc="-500" dirty="0">
                <a:solidFill>
                  <a:srgbClr val="000000"/>
                </a:solidFill>
              </a:rPr>
              <a:t> </a:t>
            </a:r>
            <a:r>
              <a:rPr spc="-395" dirty="0">
                <a:solidFill>
                  <a:srgbClr val="000000"/>
                </a:solidFill>
              </a:rPr>
              <a:t>Needs</a:t>
            </a:r>
            <a:r>
              <a:rPr spc="-495" dirty="0">
                <a:solidFill>
                  <a:srgbClr val="000000"/>
                </a:solidFill>
              </a:rPr>
              <a:t> </a:t>
            </a:r>
            <a:r>
              <a:rPr spc="-350" dirty="0">
                <a:solidFill>
                  <a:srgbClr val="000000"/>
                </a:solidFill>
              </a:rPr>
              <a:t>Reliable</a:t>
            </a:r>
            <a:r>
              <a:rPr spc="-500" dirty="0">
                <a:solidFill>
                  <a:srgbClr val="000000"/>
                </a:solidFill>
              </a:rPr>
              <a:t> </a:t>
            </a:r>
            <a:r>
              <a:rPr spc="-459" dirty="0">
                <a:solidFill>
                  <a:srgbClr val="000000"/>
                </a:solidFill>
              </a:rPr>
              <a:t>Rides?</a:t>
            </a:r>
            <a:endParaRPr spc="-459" dirty="0">
              <a:solidFill>
                <a:srgbClr val="000000"/>
              </a:solidFill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9917" y="4770682"/>
            <a:ext cx="16288385" cy="1974214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30"/>
              </a:spcBef>
            </a:pPr>
            <a:r>
              <a:rPr sz="3650" spc="-540" dirty="0">
                <a:latin typeface="Verdana" panose="020B0604030504040204"/>
                <a:cs typeface="Verdana" panose="020B0604030504040204"/>
              </a:rPr>
              <a:t>1:</a:t>
            </a:r>
            <a:r>
              <a:rPr sz="3650" spc="-385" dirty="0">
                <a:latin typeface="Verdana" panose="020B0604030504040204"/>
                <a:cs typeface="Verdana" panose="020B0604030504040204"/>
              </a:rPr>
              <a:t> </a:t>
            </a:r>
            <a:r>
              <a:rPr sz="3650" dirty="0">
                <a:latin typeface="Verdana" panose="020B0604030504040204"/>
                <a:cs typeface="Verdana" panose="020B0604030504040204"/>
              </a:rPr>
              <a:t>CBOs</a:t>
            </a:r>
            <a:r>
              <a:rPr sz="3650" spc="155" dirty="0">
                <a:latin typeface="Verdana" panose="020B0604030504040204"/>
                <a:cs typeface="Verdana" panose="020B0604030504040204"/>
              </a:rPr>
              <a:t> </a:t>
            </a:r>
            <a:r>
              <a:rPr sz="3650" spc="-50" dirty="0">
                <a:latin typeface="Verdana" panose="020B0604030504040204"/>
                <a:cs typeface="Verdana" panose="020B0604030504040204"/>
              </a:rPr>
              <a:t>Sector:</a:t>
            </a:r>
            <a:r>
              <a:rPr sz="3650" spc="409" dirty="0">
                <a:latin typeface="Verdana" panose="020B0604030504040204"/>
                <a:cs typeface="Verdana" panose="020B0604030504040204"/>
              </a:rPr>
              <a:t> </a:t>
            </a:r>
            <a:r>
              <a:rPr sz="3650" dirty="0">
                <a:latin typeface="Verdana" panose="020B0604030504040204"/>
                <a:cs typeface="Verdana" panose="020B0604030504040204"/>
              </a:rPr>
              <a:t>staff</a:t>
            </a:r>
            <a:r>
              <a:rPr sz="3650" spc="-385" dirty="0">
                <a:latin typeface="Verdana" panose="020B0604030504040204"/>
                <a:cs typeface="Verdana" panose="020B0604030504040204"/>
              </a:rPr>
              <a:t> </a:t>
            </a:r>
            <a:r>
              <a:rPr sz="3650" spc="-80" dirty="0">
                <a:latin typeface="Verdana" panose="020B0604030504040204"/>
                <a:cs typeface="Verdana" panose="020B0604030504040204"/>
              </a:rPr>
              <a:t>needing</a:t>
            </a:r>
            <a:r>
              <a:rPr sz="3650" spc="-385" dirty="0">
                <a:latin typeface="Verdana" panose="020B0604030504040204"/>
                <a:cs typeface="Verdana" panose="020B0604030504040204"/>
              </a:rPr>
              <a:t> </a:t>
            </a:r>
            <a:r>
              <a:rPr sz="3650" spc="-145" dirty="0">
                <a:latin typeface="Verdana" panose="020B0604030504040204"/>
                <a:cs typeface="Verdana" panose="020B0604030504040204"/>
              </a:rPr>
              <a:t>safe,</a:t>
            </a:r>
            <a:r>
              <a:rPr sz="3650" spc="-385" dirty="0">
                <a:latin typeface="Verdana" panose="020B0604030504040204"/>
                <a:cs typeface="Verdana" panose="020B0604030504040204"/>
              </a:rPr>
              <a:t> </a:t>
            </a:r>
            <a:r>
              <a:rPr sz="3650" spc="-35" dirty="0">
                <a:latin typeface="Verdana" panose="020B0604030504040204"/>
                <a:cs typeface="Verdana" panose="020B0604030504040204"/>
              </a:rPr>
              <a:t>auditable</a:t>
            </a:r>
            <a:r>
              <a:rPr sz="3650" spc="-385" dirty="0">
                <a:latin typeface="Verdana" panose="020B0604030504040204"/>
                <a:cs typeface="Verdana" panose="020B0604030504040204"/>
              </a:rPr>
              <a:t> </a:t>
            </a:r>
            <a:r>
              <a:rPr sz="3650" spc="-10" dirty="0">
                <a:latin typeface="Verdana" panose="020B0604030504040204"/>
                <a:cs typeface="Verdana" panose="020B0604030504040204"/>
              </a:rPr>
              <a:t>transport.</a:t>
            </a:r>
            <a:endParaRPr sz="3650">
              <a:latin typeface="Verdana" panose="020B0604030504040204"/>
              <a:cs typeface="Verdana" panose="020B0604030504040204"/>
            </a:endParaRPr>
          </a:p>
          <a:p>
            <a:pPr algn="ctr">
              <a:lnSpc>
                <a:spcPct val="100000"/>
              </a:lnSpc>
              <a:spcBef>
                <a:spcPts val="730"/>
              </a:spcBef>
            </a:pPr>
            <a:r>
              <a:rPr sz="3650" spc="-515" dirty="0">
                <a:latin typeface="Verdana" panose="020B0604030504040204"/>
                <a:cs typeface="Verdana" panose="020B0604030504040204"/>
              </a:rPr>
              <a:t>2:</a:t>
            </a:r>
            <a:r>
              <a:rPr sz="3650" spc="-335" dirty="0">
                <a:latin typeface="Verdana" panose="020B0604030504040204"/>
                <a:cs typeface="Verdana" panose="020B0604030504040204"/>
              </a:rPr>
              <a:t> </a:t>
            </a:r>
            <a:r>
              <a:rPr sz="3650" dirty="0">
                <a:latin typeface="Verdana" panose="020B0604030504040204"/>
                <a:cs typeface="Verdana" panose="020B0604030504040204"/>
              </a:rPr>
              <a:t>Local</a:t>
            </a:r>
            <a:r>
              <a:rPr sz="3650" spc="-330" dirty="0">
                <a:latin typeface="Verdana" panose="020B0604030504040204"/>
                <a:cs typeface="Verdana" panose="020B0604030504040204"/>
              </a:rPr>
              <a:t> </a:t>
            </a:r>
            <a:r>
              <a:rPr sz="3650" spc="-114" dirty="0">
                <a:latin typeface="Verdana" panose="020B0604030504040204"/>
                <a:cs typeface="Verdana" panose="020B0604030504040204"/>
              </a:rPr>
              <a:t>Entrepreneurs:</a:t>
            </a:r>
            <a:r>
              <a:rPr sz="3650" spc="-330" dirty="0">
                <a:latin typeface="Verdana" panose="020B0604030504040204"/>
                <a:cs typeface="Verdana" panose="020B0604030504040204"/>
              </a:rPr>
              <a:t> </a:t>
            </a:r>
            <a:r>
              <a:rPr sz="3650" spc="-105" dirty="0">
                <a:latin typeface="Verdana" panose="020B0604030504040204"/>
                <a:cs typeface="Verdana" panose="020B0604030504040204"/>
              </a:rPr>
              <a:t>Refugees</a:t>
            </a:r>
            <a:r>
              <a:rPr sz="3650" spc="-330" dirty="0">
                <a:latin typeface="Verdana" panose="020B0604030504040204"/>
                <a:cs typeface="Verdana" panose="020B0604030504040204"/>
              </a:rPr>
              <a:t> </a:t>
            </a:r>
            <a:r>
              <a:rPr sz="3650" spc="-245" dirty="0">
                <a:latin typeface="Verdana" panose="020B0604030504040204"/>
                <a:cs typeface="Verdana" panose="020B0604030504040204"/>
              </a:rPr>
              <a:t>&amp;</a:t>
            </a:r>
            <a:r>
              <a:rPr sz="3650" spc="-330" dirty="0">
                <a:latin typeface="Verdana" panose="020B0604030504040204"/>
                <a:cs typeface="Verdana" panose="020B0604030504040204"/>
              </a:rPr>
              <a:t> </a:t>
            </a:r>
            <a:r>
              <a:rPr sz="3650" spc="-10" dirty="0">
                <a:latin typeface="Verdana" panose="020B0604030504040204"/>
                <a:cs typeface="Verdana" panose="020B0604030504040204"/>
              </a:rPr>
              <a:t>host</a:t>
            </a:r>
            <a:r>
              <a:rPr sz="3650" spc="-330" dirty="0">
                <a:latin typeface="Verdana" panose="020B0604030504040204"/>
                <a:cs typeface="Verdana" panose="020B0604030504040204"/>
              </a:rPr>
              <a:t> </a:t>
            </a:r>
            <a:r>
              <a:rPr sz="3650" spc="-60" dirty="0">
                <a:latin typeface="Verdana" panose="020B0604030504040204"/>
                <a:cs typeface="Verdana" panose="020B0604030504040204"/>
              </a:rPr>
              <a:t>community</a:t>
            </a:r>
            <a:r>
              <a:rPr sz="3650" spc="-330" dirty="0">
                <a:latin typeface="Verdana" panose="020B0604030504040204"/>
                <a:cs typeface="Verdana" panose="020B0604030504040204"/>
              </a:rPr>
              <a:t> </a:t>
            </a:r>
            <a:r>
              <a:rPr sz="3650" spc="-85" dirty="0">
                <a:latin typeface="Verdana" panose="020B0604030504040204"/>
                <a:cs typeface="Verdana" panose="020B0604030504040204"/>
              </a:rPr>
              <a:t>traveling</a:t>
            </a:r>
            <a:r>
              <a:rPr sz="3650" spc="-330" dirty="0">
                <a:latin typeface="Verdana" panose="020B0604030504040204"/>
                <a:cs typeface="Verdana" panose="020B0604030504040204"/>
              </a:rPr>
              <a:t> </a:t>
            </a:r>
            <a:r>
              <a:rPr sz="3650" dirty="0">
                <a:latin typeface="Verdana" panose="020B0604030504040204"/>
                <a:cs typeface="Verdana" panose="020B0604030504040204"/>
              </a:rPr>
              <a:t>to</a:t>
            </a:r>
            <a:r>
              <a:rPr sz="3650" spc="-330" dirty="0">
                <a:latin typeface="Verdana" panose="020B0604030504040204"/>
                <a:cs typeface="Verdana" panose="020B0604030504040204"/>
              </a:rPr>
              <a:t> </a:t>
            </a:r>
            <a:r>
              <a:rPr sz="3650" spc="-40" dirty="0">
                <a:latin typeface="Verdana" panose="020B0604030504040204"/>
                <a:cs typeface="Verdana" panose="020B0604030504040204"/>
              </a:rPr>
              <a:t>markets.</a:t>
            </a:r>
            <a:endParaRPr sz="3650">
              <a:latin typeface="Verdana" panose="020B0604030504040204"/>
              <a:cs typeface="Verdana" panose="020B0604030504040204"/>
            </a:endParaRPr>
          </a:p>
          <a:p>
            <a:pPr algn="ctr">
              <a:lnSpc>
                <a:spcPct val="100000"/>
              </a:lnSpc>
              <a:spcBef>
                <a:spcPts val="735"/>
              </a:spcBef>
            </a:pPr>
            <a:r>
              <a:rPr sz="3650" spc="-459" dirty="0">
                <a:latin typeface="Verdana" panose="020B0604030504040204"/>
                <a:cs typeface="Verdana" panose="020B0604030504040204"/>
              </a:rPr>
              <a:t>3:</a:t>
            </a:r>
            <a:r>
              <a:rPr sz="365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650" spc="-65" dirty="0">
                <a:latin typeface="Verdana" panose="020B0604030504040204"/>
                <a:cs typeface="Verdana" panose="020B0604030504040204"/>
              </a:rPr>
              <a:t>Essential</a:t>
            </a:r>
            <a:r>
              <a:rPr sz="3650" spc="-315" dirty="0">
                <a:latin typeface="Verdana" panose="020B0604030504040204"/>
                <a:cs typeface="Verdana" panose="020B0604030504040204"/>
              </a:rPr>
              <a:t> </a:t>
            </a:r>
            <a:r>
              <a:rPr sz="3650" spc="-175" dirty="0">
                <a:latin typeface="Verdana" panose="020B0604030504040204"/>
                <a:cs typeface="Verdana" panose="020B0604030504040204"/>
              </a:rPr>
              <a:t>Transit:</a:t>
            </a:r>
            <a:r>
              <a:rPr sz="365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650" spc="-95" dirty="0">
                <a:latin typeface="Verdana" panose="020B0604030504040204"/>
                <a:cs typeface="Verdana" panose="020B0604030504040204"/>
              </a:rPr>
              <a:t>Families</a:t>
            </a:r>
            <a:r>
              <a:rPr sz="3650" spc="-315" dirty="0">
                <a:latin typeface="Verdana" panose="020B0604030504040204"/>
                <a:cs typeface="Verdana" panose="020B0604030504040204"/>
              </a:rPr>
              <a:t> </a:t>
            </a:r>
            <a:r>
              <a:rPr sz="3650" spc="-80" dirty="0">
                <a:latin typeface="Verdana" panose="020B0604030504040204"/>
                <a:cs typeface="Verdana" panose="020B0604030504040204"/>
              </a:rPr>
              <a:t>needing</a:t>
            </a:r>
            <a:r>
              <a:rPr sz="365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650" spc="-40" dirty="0">
                <a:latin typeface="Verdana" panose="020B0604030504040204"/>
                <a:cs typeface="Verdana" panose="020B0604030504040204"/>
              </a:rPr>
              <a:t>reliable</a:t>
            </a:r>
            <a:r>
              <a:rPr sz="3650" spc="-315" dirty="0">
                <a:latin typeface="Verdana" panose="020B0604030504040204"/>
                <a:cs typeface="Verdana" panose="020B0604030504040204"/>
              </a:rPr>
              <a:t> </a:t>
            </a:r>
            <a:r>
              <a:rPr sz="3650" spc="-40" dirty="0">
                <a:latin typeface="Verdana" panose="020B0604030504040204"/>
                <a:cs typeface="Verdana" panose="020B0604030504040204"/>
              </a:rPr>
              <a:t>medical</a:t>
            </a:r>
            <a:r>
              <a:rPr sz="365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650" spc="-245" dirty="0">
                <a:latin typeface="Verdana" panose="020B0604030504040204"/>
                <a:cs typeface="Verdana" panose="020B0604030504040204"/>
              </a:rPr>
              <a:t>&amp;</a:t>
            </a:r>
            <a:r>
              <a:rPr sz="3650" spc="-315" dirty="0">
                <a:latin typeface="Verdana" panose="020B0604030504040204"/>
                <a:cs typeface="Verdana" panose="020B0604030504040204"/>
              </a:rPr>
              <a:t> </a:t>
            </a:r>
            <a:r>
              <a:rPr sz="3650" dirty="0">
                <a:latin typeface="Verdana" panose="020B0604030504040204"/>
                <a:cs typeface="Verdana" panose="020B0604030504040204"/>
              </a:rPr>
              <a:t>clinic</a:t>
            </a:r>
            <a:r>
              <a:rPr sz="365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650" spc="-10" dirty="0">
                <a:latin typeface="Verdana" panose="020B0604030504040204"/>
                <a:cs typeface="Verdana" panose="020B0604030504040204"/>
              </a:rPr>
              <a:t>transport.</a:t>
            </a:r>
            <a:endParaRPr sz="365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0" dirty="0"/>
              <a:t>A</a:t>
            </a:r>
            <a:r>
              <a:rPr spc="-490" dirty="0"/>
              <a:t> </a:t>
            </a:r>
            <a:r>
              <a:rPr spc="-325" dirty="0"/>
              <a:t>Captive,</a:t>
            </a:r>
            <a:r>
              <a:rPr spc="-490" dirty="0"/>
              <a:t> </a:t>
            </a:r>
            <a:r>
              <a:rPr spc="-400" dirty="0"/>
              <a:t>Growing</a:t>
            </a:r>
            <a:r>
              <a:rPr spc="-490" dirty="0"/>
              <a:t> </a:t>
            </a:r>
            <a:r>
              <a:rPr spc="-190" dirty="0"/>
              <a:t>Mobility</a:t>
            </a:r>
            <a:r>
              <a:rPr spc="-490" dirty="0"/>
              <a:t> </a:t>
            </a:r>
            <a:r>
              <a:rPr spc="-365" dirty="0"/>
              <a:t>Market</a:t>
            </a:r>
            <a:endParaRPr spc="-365" dirty="0"/>
          </a:p>
        </p:txBody>
      </p:sp>
      <p:grpSp>
        <p:nvGrpSpPr>
          <p:cNvPr id="3" name="object 3"/>
          <p:cNvGrpSpPr/>
          <p:nvPr/>
        </p:nvGrpSpPr>
        <p:grpSpPr>
          <a:xfrm>
            <a:off x="6023752" y="1573655"/>
            <a:ext cx="4212590" cy="4212590"/>
            <a:chOff x="6023752" y="1573655"/>
            <a:chExt cx="4212590" cy="4212590"/>
          </a:xfrm>
        </p:grpSpPr>
        <p:sp>
          <p:nvSpPr>
            <p:cNvPr id="4" name="object 4"/>
            <p:cNvSpPr/>
            <p:nvPr/>
          </p:nvSpPr>
          <p:spPr>
            <a:xfrm>
              <a:off x="6023752" y="1573655"/>
              <a:ext cx="4212590" cy="4212590"/>
            </a:xfrm>
            <a:custGeom>
              <a:avLst/>
              <a:gdLst/>
              <a:ahLst/>
              <a:cxnLst/>
              <a:rect l="l" t="t" r="r" b="b"/>
              <a:pathLst>
                <a:path w="4212590" h="4212590">
                  <a:moveTo>
                    <a:pt x="2110467" y="4211986"/>
                  </a:moveTo>
                  <a:lnTo>
                    <a:pt x="2054440" y="4211360"/>
                  </a:lnTo>
                  <a:lnTo>
                    <a:pt x="1998451" y="4209244"/>
                  </a:lnTo>
                  <a:lnTo>
                    <a:pt x="1942537" y="4205639"/>
                  </a:lnTo>
                  <a:lnTo>
                    <a:pt x="1886739" y="4200547"/>
                  </a:lnTo>
                  <a:lnTo>
                    <a:pt x="1831096" y="4193974"/>
                  </a:lnTo>
                  <a:lnTo>
                    <a:pt x="1775648" y="4185922"/>
                  </a:lnTo>
                  <a:lnTo>
                    <a:pt x="1720434" y="4176398"/>
                  </a:lnTo>
                  <a:lnTo>
                    <a:pt x="1665492" y="4165409"/>
                  </a:lnTo>
                  <a:lnTo>
                    <a:pt x="1610863" y="4152962"/>
                  </a:lnTo>
                  <a:lnTo>
                    <a:pt x="1556584" y="4139066"/>
                  </a:lnTo>
                  <a:lnTo>
                    <a:pt x="1502693" y="4123731"/>
                  </a:lnTo>
                  <a:lnTo>
                    <a:pt x="1449230" y="4106968"/>
                  </a:lnTo>
                  <a:lnTo>
                    <a:pt x="1396232" y="4088788"/>
                  </a:lnTo>
                  <a:lnTo>
                    <a:pt x="1343736" y="4069205"/>
                  </a:lnTo>
                  <a:lnTo>
                    <a:pt x="1291779" y="4048233"/>
                  </a:lnTo>
                  <a:lnTo>
                    <a:pt x="1240399" y="4025885"/>
                  </a:lnTo>
                  <a:lnTo>
                    <a:pt x="1189631" y="4002179"/>
                  </a:lnTo>
                  <a:lnTo>
                    <a:pt x="1139512" y="3977131"/>
                  </a:lnTo>
                  <a:lnTo>
                    <a:pt x="1090077" y="3950758"/>
                  </a:lnTo>
                  <a:lnTo>
                    <a:pt x="1041362" y="3923080"/>
                  </a:lnTo>
                  <a:lnTo>
                    <a:pt x="993399" y="3894115"/>
                  </a:lnTo>
                  <a:lnTo>
                    <a:pt x="946225" y="3863885"/>
                  </a:lnTo>
                  <a:lnTo>
                    <a:pt x="899871" y="3832410"/>
                  </a:lnTo>
                  <a:lnTo>
                    <a:pt x="854371" y="3799713"/>
                  </a:lnTo>
                  <a:lnTo>
                    <a:pt x="809757" y="3765818"/>
                  </a:lnTo>
                  <a:lnTo>
                    <a:pt x="766060" y="3730748"/>
                  </a:lnTo>
                  <a:lnTo>
                    <a:pt x="723312" y="3694527"/>
                  </a:lnTo>
                  <a:lnTo>
                    <a:pt x="681542" y="3657183"/>
                  </a:lnTo>
                  <a:lnTo>
                    <a:pt x="640781" y="3618740"/>
                  </a:lnTo>
                  <a:lnTo>
                    <a:pt x="601057" y="3579226"/>
                  </a:lnTo>
                  <a:lnTo>
                    <a:pt x="562398" y="3538670"/>
                  </a:lnTo>
                  <a:lnTo>
                    <a:pt x="524831" y="3497100"/>
                  </a:lnTo>
                  <a:lnTo>
                    <a:pt x="488384" y="3454545"/>
                  </a:lnTo>
                  <a:lnTo>
                    <a:pt x="453082" y="3411036"/>
                  </a:lnTo>
                  <a:lnTo>
                    <a:pt x="418949" y="3366603"/>
                  </a:lnTo>
                  <a:lnTo>
                    <a:pt x="386011" y="3321277"/>
                  </a:lnTo>
                  <a:lnTo>
                    <a:pt x="354290" y="3275091"/>
                  </a:lnTo>
                  <a:lnTo>
                    <a:pt x="323810" y="3228078"/>
                  </a:lnTo>
                  <a:lnTo>
                    <a:pt x="294590" y="3180271"/>
                  </a:lnTo>
                  <a:lnTo>
                    <a:pt x="266653" y="3131703"/>
                  </a:lnTo>
                  <a:lnTo>
                    <a:pt x="240017" y="3082409"/>
                  </a:lnTo>
                  <a:lnTo>
                    <a:pt x="214702" y="3032424"/>
                  </a:lnTo>
                  <a:lnTo>
                    <a:pt x="190726" y="2981784"/>
                  </a:lnTo>
                  <a:lnTo>
                    <a:pt x="168106" y="2930523"/>
                  </a:lnTo>
                  <a:lnTo>
                    <a:pt x="146858" y="2878679"/>
                  </a:lnTo>
                  <a:lnTo>
                    <a:pt x="126996" y="2826288"/>
                  </a:lnTo>
                  <a:lnTo>
                    <a:pt x="108534" y="2773387"/>
                  </a:lnTo>
                  <a:lnTo>
                    <a:pt x="91487" y="2720014"/>
                  </a:lnTo>
                  <a:lnTo>
                    <a:pt x="75865" y="2666206"/>
                  </a:lnTo>
                  <a:lnTo>
                    <a:pt x="61681" y="2612001"/>
                  </a:lnTo>
                  <a:lnTo>
                    <a:pt x="48944" y="2557439"/>
                  </a:lnTo>
                  <a:lnTo>
                    <a:pt x="37662" y="2502556"/>
                  </a:lnTo>
                  <a:lnTo>
                    <a:pt x="27845" y="2447393"/>
                  </a:lnTo>
                  <a:lnTo>
                    <a:pt x="19498" y="2391989"/>
                  </a:lnTo>
                  <a:lnTo>
                    <a:pt x="12628" y="2336382"/>
                  </a:lnTo>
                  <a:lnTo>
                    <a:pt x="7240" y="2280612"/>
                  </a:lnTo>
                  <a:lnTo>
                    <a:pt x="3338" y="2224718"/>
                  </a:lnTo>
                  <a:lnTo>
                    <a:pt x="924" y="2168741"/>
                  </a:lnTo>
                  <a:lnTo>
                    <a:pt x="0" y="2112719"/>
                  </a:lnTo>
                  <a:lnTo>
                    <a:pt x="96" y="2084706"/>
                  </a:lnTo>
                  <a:lnTo>
                    <a:pt x="1408" y="2028687"/>
                  </a:lnTo>
                  <a:lnTo>
                    <a:pt x="4210" y="1972732"/>
                  </a:lnTo>
                  <a:lnTo>
                    <a:pt x="8499" y="1916862"/>
                  </a:lnTo>
                  <a:lnTo>
                    <a:pt x="14272" y="1861135"/>
                  </a:lnTo>
                  <a:lnTo>
                    <a:pt x="21527" y="1805572"/>
                  </a:lnTo>
                  <a:lnTo>
                    <a:pt x="30256" y="1750232"/>
                  </a:lnTo>
                  <a:lnTo>
                    <a:pt x="40455" y="1695133"/>
                  </a:lnTo>
                  <a:lnTo>
                    <a:pt x="52115" y="1640335"/>
                  </a:lnTo>
                  <a:lnTo>
                    <a:pt x="65231" y="1585857"/>
                  </a:lnTo>
                  <a:lnTo>
                    <a:pt x="79789" y="1531757"/>
                  </a:lnTo>
                  <a:lnTo>
                    <a:pt x="95784" y="1478054"/>
                  </a:lnTo>
                  <a:lnTo>
                    <a:pt x="113199" y="1424804"/>
                  </a:lnTo>
                  <a:lnTo>
                    <a:pt x="132027" y="1372028"/>
                  </a:lnTo>
                  <a:lnTo>
                    <a:pt x="152249" y="1319780"/>
                  </a:lnTo>
                  <a:lnTo>
                    <a:pt x="162881" y="1293858"/>
                  </a:lnTo>
                  <a:lnTo>
                    <a:pt x="2105985" y="2105995"/>
                  </a:lnTo>
                  <a:lnTo>
                    <a:pt x="2105985" y="0"/>
                  </a:lnTo>
                  <a:lnTo>
                    <a:pt x="2162009" y="745"/>
                  </a:lnTo>
                  <a:lnTo>
                    <a:pt x="2217994" y="2980"/>
                  </a:lnTo>
                  <a:lnTo>
                    <a:pt x="2273900" y="6704"/>
                  </a:lnTo>
                  <a:lnTo>
                    <a:pt x="2329687" y="11914"/>
                  </a:lnTo>
                  <a:lnTo>
                    <a:pt x="2385316" y="18607"/>
                  </a:lnTo>
                  <a:lnTo>
                    <a:pt x="2440747" y="26776"/>
                  </a:lnTo>
                  <a:lnTo>
                    <a:pt x="2495941" y="36417"/>
                  </a:lnTo>
                  <a:lnTo>
                    <a:pt x="2550859" y="47524"/>
                  </a:lnTo>
                  <a:lnTo>
                    <a:pt x="2605462" y="60087"/>
                  </a:lnTo>
                  <a:lnTo>
                    <a:pt x="2659711" y="74098"/>
                  </a:lnTo>
                  <a:lnTo>
                    <a:pt x="2713569" y="89548"/>
                  </a:lnTo>
                  <a:lnTo>
                    <a:pt x="2766996" y="106425"/>
                  </a:lnTo>
                  <a:lnTo>
                    <a:pt x="2819956" y="124717"/>
                  </a:lnTo>
                  <a:lnTo>
                    <a:pt x="2872410" y="144412"/>
                  </a:lnTo>
                  <a:lnTo>
                    <a:pt x="2924322" y="165495"/>
                  </a:lnTo>
                  <a:lnTo>
                    <a:pt x="2975654" y="187951"/>
                  </a:lnTo>
                  <a:lnTo>
                    <a:pt x="3026371" y="211765"/>
                  </a:lnTo>
                  <a:lnTo>
                    <a:pt x="3076437" y="236920"/>
                  </a:lnTo>
                  <a:lnTo>
                    <a:pt x="3125815" y="263398"/>
                  </a:lnTo>
                  <a:lnTo>
                    <a:pt x="3174472" y="291181"/>
                  </a:lnTo>
                  <a:lnTo>
                    <a:pt x="3222373" y="320247"/>
                  </a:lnTo>
                  <a:lnTo>
                    <a:pt x="3269483" y="350578"/>
                  </a:lnTo>
                  <a:lnTo>
                    <a:pt x="3315770" y="382151"/>
                  </a:lnTo>
                  <a:lnTo>
                    <a:pt x="3361200" y="414945"/>
                  </a:lnTo>
                  <a:lnTo>
                    <a:pt x="3405742" y="448935"/>
                  </a:lnTo>
                  <a:lnTo>
                    <a:pt x="3449364" y="484098"/>
                  </a:lnTo>
                  <a:lnTo>
                    <a:pt x="3492035" y="520409"/>
                  </a:lnTo>
                  <a:lnTo>
                    <a:pt x="3533725" y="557843"/>
                  </a:lnTo>
                  <a:lnTo>
                    <a:pt x="3574404" y="596372"/>
                  </a:lnTo>
                  <a:lnTo>
                    <a:pt x="3614044" y="635970"/>
                  </a:lnTo>
                  <a:lnTo>
                    <a:pt x="3652617" y="676608"/>
                  </a:lnTo>
                  <a:lnTo>
                    <a:pt x="3690095" y="718259"/>
                  </a:lnTo>
                  <a:lnTo>
                    <a:pt x="3726451" y="760891"/>
                  </a:lnTo>
                  <a:lnTo>
                    <a:pt x="3761661" y="804476"/>
                  </a:lnTo>
                  <a:lnTo>
                    <a:pt x="3795699" y="848981"/>
                  </a:lnTo>
                  <a:lnTo>
                    <a:pt x="3828540" y="894377"/>
                  </a:lnTo>
                  <a:lnTo>
                    <a:pt x="3860163" y="940630"/>
                  </a:lnTo>
                  <a:lnTo>
                    <a:pt x="3890544" y="987708"/>
                  </a:lnTo>
                  <a:lnTo>
                    <a:pt x="3919661" y="1035577"/>
                  </a:lnTo>
                  <a:lnTo>
                    <a:pt x="3947495" y="1084204"/>
                  </a:lnTo>
                  <a:lnTo>
                    <a:pt x="3974026" y="1133555"/>
                  </a:lnTo>
                  <a:lnTo>
                    <a:pt x="3999234" y="1183594"/>
                  </a:lnTo>
                  <a:lnTo>
                    <a:pt x="4023102" y="1234285"/>
                  </a:lnTo>
                  <a:lnTo>
                    <a:pt x="4045613" y="1285594"/>
                  </a:lnTo>
                  <a:lnTo>
                    <a:pt x="4066752" y="1337483"/>
                  </a:lnTo>
                  <a:lnTo>
                    <a:pt x="4086502" y="1389916"/>
                  </a:lnTo>
                  <a:lnTo>
                    <a:pt x="4104851" y="1442856"/>
                  </a:lnTo>
                  <a:lnTo>
                    <a:pt x="4121784" y="1496266"/>
                  </a:lnTo>
                  <a:lnTo>
                    <a:pt x="4137291" y="1550107"/>
                  </a:lnTo>
                  <a:lnTo>
                    <a:pt x="4151360" y="1604342"/>
                  </a:lnTo>
                  <a:lnTo>
                    <a:pt x="4163982" y="1658931"/>
                  </a:lnTo>
                  <a:lnTo>
                    <a:pt x="4175146" y="1713837"/>
                  </a:lnTo>
                  <a:lnTo>
                    <a:pt x="4184846" y="1769021"/>
                  </a:lnTo>
                  <a:lnTo>
                    <a:pt x="4193075" y="1824443"/>
                  </a:lnTo>
                  <a:lnTo>
                    <a:pt x="4199826" y="1880064"/>
                  </a:lnTo>
                  <a:lnTo>
                    <a:pt x="4205095" y="1935846"/>
                  </a:lnTo>
                  <a:lnTo>
                    <a:pt x="4208879" y="1991748"/>
                  </a:lnTo>
                  <a:lnTo>
                    <a:pt x="4211174" y="2047730"/>
                  </a:lnTo>
                  <a:lnTo>
                    <a:pt x="4211979" y="2103754"/>
                  </a:lnTo>
                  <a:lnTo>
                    <a:pt x="4211822" y="2131767"/>
                  </a:lnTo>
                  <a:lnTo>
                    <a:pt x="4210391" y="2187783"/>
                  </a:lnTo>
                  <a:lnTo>
                    <a:pt x="4207471" y="2243732"/>
                  </a:lnTo>
                  <a:lnTo>
                    <a:pt x="4203063" y="2299593"/>
                  </a:lnTo>
                  <a:lnTo>
                    <a:pt x="4197171" y="2355307"/>
                  </a:lnTo>
                  <a:lnTo>
                    <a:pt x="4189798" y="2410854"/>
                  </a:lnTo>
                  <a:lnTo>
                    <a:pt x="4180951" y="2466176"/>
                  </a:lnTo>
                  <a:lnTo>
                    <a:pt x="4170634" y="2521253"/>
                  </a:lnTo>
                  <a:lnTo>
                    <a:pt x="4158858" y="2576026"/>
                  </a:lnTo>
                  <a:lnTo>
                    <a:pt x="4145626" y="2630476"/>
                  </a:lnTo>
                  <a:lnTo>
                    <a:pt x="4130953" y="2684545"/>
                  </a:lnTo>
                  <a:lnTo>
                    <a:pt x="4114844" y="2738214"/>
                  </a:lnTo>
                  <a:lnTo>
                    <a:pt x="4097316" y="2791426"/>
                  </a:lnTo>
                  <a:lnTo>
                    <a:pt x="4078376" y="2844163"/>
                  </a:lnTo>
                  <a:lnTo>
                    <a:pt x="4058042" y="2896368"/>
                  </a:lnTo>
                  <a:lnTo>
                    <a:pt x="4036324" y="2948022"/>
                  </a:lnTo>
                  <a:lnTo>
                    <a:pt x="4013242" y="2999071"/>
                  </a:lnTo>
                  <a:lnTo>
                    <a:pt x="3988807" y="3049497"/>
                  </a:lnTo>
                  <a:lnTo>
                    <a:pt x="3963044" y="3099247"/>
                  </a:lnTo>
                  <a:lnTo>
                    <a:pt x="3935961" y="3148302"/>
                  </a:lnTo>
                  <a:lnTo>
                    <a:pt x="3907588" y="3196611"/>
                  </a:lnTo>
                  <a:lnTo>
                    <a:pt x="3877935" y="3244156"/>
                  </a:lnTo>
                  <a:lnTo>
                    <a:pt x="3847032" y="3290888"/>
                  </a:lnTo>
                  <a:lnTo>
                    <a:pt x="3814892" y="3336789"/>
                  </a:lnTo>
                  <a:lnTo>
                    <a:pt x="3781548" y="3381810"/>
                  </a:lnTo>
                  <a:lnTo>
                    <a:pt x="3747012" y="3425937"/>
                  </a:lnTo>
                  <a:lnTo>
                    <a:pt x="3711321" y="3469121"/>
                  </a:lnTo>
                  <a:lnTo>
                    <a:pt x="3674487" y="3511348"/>
                  </a:lnTo>
                  <a:lnTo>
                    <a:pt x="3636550" y="3552573"/>
                  </a:lnTo>
                  <a:lnTo>
                    <a:pt x="3597522" y="3592782"/>
                  </a:lnTo>
                  <a:lnTo>
                    <a:pt x="3557445" y="3631931"/>
                  </a:lnTo>
                  <a:lnTo>
                    <a:pt x="3516334" y="3670007"/>
                  </a:lnTo>
                  <a:lnTo>
                    <a:pt x="3474232" y="3706969"/>
                  </a:lnTo>
                  <a:lnTo>
                    <a:pt x="3431154" y="3742804"/>
                  </a:lnTo>
                  <a:lnTo>
                    <a:pt x="3387146" y="3777474"/>
                  </a:lnTo>
                  <a:lnTo>
                    <a:pt x="3342223" y="3810968"/>
                  </a:lnTo>
                  <a:lnTo>
                    <a:pt x="3296433" y="3843249"/>
                  </a:lnTo>
                  <a:lnTo>
                    <a:pt x="3249792" y="3874306"/>
                  </a:lnTo>
                  <a:lnTo>
                    <a:pt x="3202350" y="3904105"/>
                  </a:lnTo>
                  <a:lnTo>
                    <a:pt x="3154124" y="3932637"/>
                  </a:lnTo>
                  <a:lnTo>
                    <a:pt x="3105164" y="3959872"/>
                  </a:lnTo>
                  <a:lnTo>
                    <a:pt x="3055488" y="3985799"/>
                  </a:lnTo>
                  <a:lnTo>
                    <a:pt x="3005149" y="4010390"/>
                  </a:lnTo>
                  <a:lnTo>
                    <a:pt x="2954165" y="4033638"/>
                  </a:lnTo>
                  <a:lnTo>
                    <a:pt x="2902589" y="4055518"/>
                  </a:lnTo>
                  <a:lnTo>
                    <a:pt x="2850440" y="4076021"/>
                  </a:lnTo>
                  <a:lnTo>
                    <a:pt x="2797774" y="4095127"/>
                  </a:lnTo>
                  <a:lnTo>
                    <a:pt x="2744608" y="4112828"/>
                  </a:lnTo>
                  <a:lnTo>
                    <a:pt x="2691000" y="4129105"/>
                  </a:lnTo>
                  <a:lnTo>
                    <a:pt x="2636969" y="4143953"/>
                  </a:lnTo>
                  <a:lnTo>
                    <a:pt x="2582571" y="4157357"/>
                  </a:lnTo>
                  <a:lnTo>
                    <a:pt x="2527826" y="4169310"/>
                  </a:lnTo>
                  <a:lnTo>
                    <a:pt x="2472792" y="4179801"/>
                  </a:lnTo>
                  <a:lnTo>
                    <a:pt x="2417489" y="4188826"/>
                  </a:lnTo>
                  <a:lnTo>
                    <a:pt x="2361975" y="4196375"/>
                  </a:lnTo>
                  <a:lnTo>
                    <a:pt x="2306271" y="4202445"/>
                  </a:lnTo>
                  <a:lnTo>
                    <a:pt x="2250434" y="4207031"/>
                  </a:lnTo>
                  <a:lnTo>
                    <a:pt x="2194485" y="4210130"/>
                  </a:lnTo>
                  <a:lnTo>
                    <a:pt x="2138483" y="4211740"/>
                  </a:lnTo>
                  <a:lnTo>
                    <a:pt x="2110467" y="4211986"/>
                  </a:lnTo>
                  <a:close/>
                </a:path>
              </a:pathLst>
            </a:custGeom>
            <a:solidFill>
              <a:srgbClr val="4A7E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86634" y="1598336"/>
              <a:ext cx="1943100" cy="2081530"/>
            </a:xfrm>
            <a:custGeom>
              <a:avLst/>
              <a:gdLst/>
              <a:ahLst/>
              <a:cxnLst/>
              <a:rect l="l" t="t" r="r" b="b"/>
              <a:pathLst>
                <a:path w="1943100" h="2081529">
                  <a:moveTo>
                    <a:pt x="1943103" y="2081314"/>
                  </a:moveTo>
                  <a:lnTo>
                    <a:pt x="0" y="1269176"/>
                  </a:lnTo>
                  <a:lnTo>
                    <a:pt x="13213" y="1238259"/>
                  </a:lnTo>
                  <a:lnTo>
                    <a:pt x="26914" y="1207564"/>
                  </a:lnTo>
                  <a:lnTo>
                    <a:pt x="55782" y="1146842"/>
                  </a:lnTo>
                  <a:lnTo>
                    <a:pt x="86573" y="1087072"/>
                  </a:lnTo>
                  <a:lnTo>
                    <a:pt x="119257" y="1028316"/>
                  </a:lnTo>
                  <a:lnTo>
                    <a:pt x="153799" y="970633"/>
                  </a:lnTo>
                  <a:lnTo>
                    <a:pt x="190166" y="914082"/>
                  </a:lnTo>
                  <a:lnTo>
                    <a:pt x="228319" y="858721"/>
                  </a:lnTo>
                  <a:lnTo>
                    <a:pt x="268220" y="804606"/>
                  </a:lnTo>
                  <a:lnTo>
                    <a:pt x="309827" y="751792"/>
                  </a:lnTo>
                  <a:lnTo>
                    <a:pt x="353100" y="700333"/>
                  </a:lnTo>
                  <a:lnTo>
                    <a:pt x="397992" y="650282"/>
                  </a:lnTo>
                  <a:lnTo>
                    <a:pt x="444461" y="601689"/>
                  </a:lnTo>
                  <a:lnTo>
                    <a:pt x="492456" y="554604"/>
                  </a:lnTo>
                  <a:lnTo>
                    <a:pt x="541930" y="509076"/>
                  </a:lnTo>
                  <a:lnTo>
                    <a:pt x="592831" y="465150"/>
                  </a:lnTo>
                  <a:lnTo>
                    <a:pt x="645110" y="422871"/>
                  </a:lnTo>
                  <a:lnTo>
                    <a:pt x="698711" y="382282"/>
                  </a:lnTo>
                  <a:lnTo>
                    <a:pt x="753580" y="343426"/>
                  </a:lnTo>
                  <a:lnTo>
                    <a:pt x="809662" y="306340"/>
                  </a:lnTo>
                  <a:lnTo>
                    <a:pt x="866900" y="271064"/>
                  </a:lnTo>
                  <a:lnTo>
                    <a:pt x="925234" y="237632"/>
                  </a:lnTo>
                  <a:lnTo>
                    <a:pt x="984605" y="206080"/>
                  </a:lnTo>
                  <a:lnTo>
                    <a:pt x="1044954" y="176439"/>
                  </a:lnTo>
                  <a:lnTo>
                    <a:pt x="1106217" y="148740"/>
                  </a:lnTo>
                  <a:lnTo>
                    <a:pt x="1168334" y="123010"/>
                  </a:lnTo>
                  <a:lnTo>
                    <a:pt x="1231241" y="99277"/>
                  </a:lnTo>
                  <a:lnTo>
                    <a:pt x="1294873" y="77563"/>
                  </a:lnTo>
                  <a:lnTo>
                    <a:pt x="1359165" y="57892"/>
                  </a:lnTo>
                  <a:lnTo>
                    <a:pt x="1424053" y="40283"/>
                  </a:lnTo>
                  <a:lnTo>
                    <a:pt x="1489470" y="24755"/>
                  </a:lnTo>
                  <a:lnTo>
                    <a:pt x="1555349" y="11322"/>
                  </a:lnTo>
                  <a:lnTo>
                    <a:pt x="1621624" y="0"/>
                  </a:lnTo>
                  <a:lnTo>
                    <a:pt x="1943103" y="2081314"/>
                  </a:lnTo>
                  <a:close/>
                </a:path>
              </a:pathLst>
            </a:custGeom>
            <a:solidFill>
              <a:srgbClr val="AE8C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808258" y="1573655"/>
              <a:ext cx="321945" cy="2106295"/>
            </a:xfrm>
            <a:custGeom>
              <a:avLst/>
              <a:gdLst/>
              <a:ahLst/>
              <a:cxnLst/>
              <a:rect l="l" t="t" r="r" b="b"/>
              <a:pathLst>
                <a:path w="321945" h="2106295">
                  <a:moveTo>
                    <a:pt x="321478" y="2105995"/>
                  </a:moveTo>
                  <a:lnTo>
                    <a:pt x="0" y="24681"/>
                  </a:lnTo>
                  <a:lnTo>
                    <a:pt x="53281" y="17144"/>
                  </a:lnTo>
                  <a:lnTo>
                    <a:pt x="106668" y="10976"/>
                  </a:lnTo>
                  <a:lnTo>
                    <a:pt x="160160" y="6178"/>
                  </a:lnTo>
                  <a:lnTo>
                    <a:pt x="213757" y="2749"/>
                  </a:lnTo>
                  <a:lnTo>
                    <a:pt x="267460" y="690"/>
                  </a:lnTo>
                  <a:lnTo>
                    <a:pt x="321268" y="0"/>
                  </a:lnTo>
                  <a:lnTo>
                    <a:pt x="321478" y="2105995"/>
                  </a:lnTo>
                  <a:close/>
                </a:path>
              </a:pathLst>
            </a:custGeom>
            <a:solidFill>
              <a:srgbClr val="F2B86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6374391" y="1126837"/>
            <a:ext cx="1779905" cy="824865"/>
          </a:xfrm>
          <a:prstGeom prst="rect">
            <a:avLst/>
          </a:prstGeom>
        </p:spPr>
        <p:txBody>
          <a:bodyPr vert="horz" wrap="square" lIns="0" tIns="29844" rIns="0" bIns="0" rtlCol="0">
            <a:spAutoFit/>
          </a:bodyPr>
          <a:lstStyle/>
          <a:p>
            <a:pPr marL="1391285" marR="5080" indent="-7620" algn="r">
              <a:lnSpc>
                <a:spcPts val="1470"/>
              </a:lnSpc>
              <a:spcBef>
                <a:spcPts val="235"/>
              </a:spcBef>
            </a:pPr>
            <a:r>
              <a:rPr sz="1300" spc="-25" dirty="0">
                <a:latin typeface="Verdana" panose="020B0604030504040204"/>
                <a:cs typeface="Verdana" panose="020B0604030504040204"/>
              </a:rPr>
              <a:t>SOM </a:t>
            </a:r>
            <a:r>
              <a:rPr sz="1300" spc="-160" dirty="0">
                <a:latin typeface="Verdana" panose="020B0604030504040204"/>
                <a:cs typeface="Verdana" panose="020B0604030504040204"/>
              </a:rPr>
              <a:t>2.4%</a:t>
            </a:r>
            <a:endParaRPr sz="1300">
              <a:latin typeface="Verdana" panose="020B0604030504040204"/>
              <a:cs typeface="Verdana" panose="020B0604030504040204"/>
            </a:endParaRPr>
          </a:p>
          <a:p>
            <a:pPr marL="12700" marR="1290320" indent="52070">
              <a:lnSpc>
                <a:spcPts val="1470"/>
              </a:lnSpc>
              <a:spcBef>
                <a:spcPts val="310"/>
              </a:spcBef>
            </a:pPr>
            <a:r>
              <a:rPr sz="1300" spc="-25" dirty="0">
                <a:latin typeface="Verdana" panose="020B0604030504040204"/>
                <a:cs typeface="Verdana" panose="020B0604030504040204"/>
              </a:rPr>
              <a:t>SAM </a:t>
            </a:r>
            <a:r>
              <a:rPr sz="1300" spc="-145" dirty="0">
                <a:latin typeface="Verdana" panose="020B0604030504040204"/>
                <a:cs typeface="Verdana" panose="020B0604030504040204"/>
              </a:rPr>
              <a:t>16.3%</a:t>
            </a:r>
            <a:endParaRPr sz="13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14153" y="5470291"/>
            <a:ext cx="499109" cy="411480"/>
          </a:xfrm>
          <a:prstGeom prst="rect">
            <a:avLst/>
          </a:prstGeom>
        </p:spPr>
        <p:txBody>
          <a:bodyPr vert="horz" wrap="square" lIns="0" tIns="29844" rIns="0" bIns="0" rtlCol="0">
            <a:spAutoFit/>
          </a:bodyPr>
          <a:lstStyle/>
          <a:p>
            <a:pPr marL="12700" marR="5080" indent="62230">
              <a:lnSpc>
                <a:spcPts val="1470"/>
              </a:lnSpc>
              <a:spcBef>
                <a:spcPts val="235"/>
              </a:spcBef>
            </a:pPr>
            <a:r>
              <a:rPr sz="1300" spc="-25" dirty="0">
                <a:latin typeface="Verdana" panose="020B0604030504040204"/>
                <a:cs typeface="Verdana" panose="020B0604030504040204"/>
              </a:rPr>
              <a:t>TAM </a:t>
            </a:r>
            <a:r>
              <a:rPr sz="1300" spc="-140" dirty="0">
                <a:latin typeface="Verdana" panose="020B0604030504040204"/>
                <a:cs typeface="Verdana" panose="020B0604030504040204"/>
              </a:rPr>
              <a:t>81.3%</a:t>
            </a:r>
            <a:endParaRPr sz="13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01754" y="6803966"/>
            <a:ext cx="16054705" cy="182562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45"/>
              </a:spcBef>
            </a:pPr>
            <a:r>
              <a:rPr sz="3400" spc="-7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TAM</a:t>
            </a:r>
            <a:r>
              <a:rPr sz="3400" spc="-32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400" spc="-254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(Total):</a:t>
            </a:r>
            <a:r>
              <a:rPr sz="3400" spc="-32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400" spc="-18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250,000+</a:t>
            </a:r>
            <a:r>
              <a:rPr sz="3400" spc="-32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400" spc="-5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residents</a:t>
            </a:r>
            <a:r>
              <a:rPr sz="3400" spc="-32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400" spc="-5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in</a:t>
            </a:r>
            <a:r>
              <a:rPr sz="3400" spc="-32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400" spc="-21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Kakuma,</a:t>
            </a:r>
            <a:r>
              <a:rPr sz="3400" spc="-32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400" spc="-10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Kalobeyei,</a:t>
            </a:r>
            <a:r>
              <a:rPr sz="3400" spc="-32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400" spc="-6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and</a:t>
            </a:r>
            <a:r>
              <a:rPr sz="3400" spc="-32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400" spc="-2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host</a:t>
            </a:r>
            <a:r>
              <a:rPr sz="3400" spc="-32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400" spc="-1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communities.</a:t>
            </a:r>
            <a:endParaRPr sz="3400">
              <a:latin typeface="Verdana" panose="020B0604030504040204"/>
              <a:cs typeface="Verdana" panose="020B0604030504040204"/>
            </a:endParaRPr>
          </a:p>
          <a:p>
            <a:pPr algn="ctr">
              <a:lnSpc>
                <a:spcPct val="100000"/>
              </a:lnSpc>
              <a:spcBef>
                <a:spcPts val="645"/>
              </a:spcBef>
            </a:pPr>
            <a:r>
              <a:rPr sz="3400" spc="-4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SAM</a:t>
            </a:r>
            <a:r>
              <a:rPr sz="3400" spc="-32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400" spc="-16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(Serviceable):</a:t>
            </a:r>
            <a:r>
              <a:rPr sz="3400" spc="-32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400" spc="-16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~50,000</a:t>
            </a:r>
            <a:r>
              <a:rPr sz="3400" spc="-32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400" spc="-4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daily</a:t>
            </a:r>
            <a:r>
              <a:rPr sz="3400" spc="-32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400" spc="-5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active</a:t>
            </a:r>
            <a:r>
              <a:rPr sz="3400" spc="-32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400" spc="-7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commuters</a:t>
            </a:r>
            <a:r>
              <a:rPr sz="3400" spc="-32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400" spc="-6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and</a:t>
            </a:r>
            <a:r>
              <a:rPr sz="3400" spc="-32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400" spc="-5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aid</a:t>
            </a:r>
            <a:r>
              <a:rPr sz="3400" spc="-32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400" spc="-1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workers.</a:t>
            </a:r>
            <a:endParaRPr sz="3400">
              <a:latin typeface="Verdana" panose="020B0604030504040204"/>
              <a:cs typeface="Verdana" panose="020B0604030504040204"/>
            </a:endParaRPr>
          </a:p>
          <a:p>
            <a:pPr algn="ctr">
              <a:lnSpc>
                <a:spcPct val="100000"/>
              </a:lnSpc>
              <a:spcBef>
                <a:spcPts val="645"/>
              </a:spcBef>
            </a:pPr>
            <a:r>
              <a:rPr sz="3400" spc="-4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SOM</a:t>
            </a:r>
            <a:r>
              <a:rPr sz="3400" spc="-33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400" spc="-15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(Obtainable):</a:t>
            </a:r>
            <a:r>
              <a:rPr sz="3400" spc="-33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400" spc="-20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7,500</a:t>
            </a:r>
            <a:r>
              <a:rPr sz="3400" spc="-33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400" spc="-5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active</a:t>
            </a:r>
            <a:r>
              <a:rPr sz="3400" spc="-33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400" spc="-9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users</a:t>
            </a:r>
            <a:r>
              <a:rPr sz="3400" spc="-33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400" spc="-47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(15%</a:t>
            </a:r>
            <a:r>
              <a:rPr sz="3400" spc="-33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400" spc="5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of</a:t>
            </a:r>
            <a:r>
              <a:rPr sz="3400" spc="-33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400" spc="-4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daily</a:t>
            </a:r>
            <a:r>
              <a:rPr sz="3400" spc="-33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400" spc="-9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trips)</a:t>
            </a:r>
            <a:r>
              <a:rPr sz="3400" spc="-33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400" spc="-4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by</a:t>
            </a:r>
            <a:r>
              <a:rPr sz="3400" spc="-33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400" spc="-14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Year</a:t>
            </a:r>
            <a:r>
              <a:rPr sz="3400" spc="-33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400" spc="-35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1.</a:t>
            </a:r>
            <a:endParaRPr sz="34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3275">
              <a:lnSpc>
                <a:spcPct val="100000"/>
              </a:lnSpc>
              <a:spcBef>
                <a:spcPts val="100"/>
              </a:spcBef>
            </a:pPr>
            <a:r>
              <a:rPr spc="-450" dirty="0"/>
              <a:t>The</a:t>
            </a:r>
            <a:r>
              <a:rPr spc="-490" dirty="0"/>
              <a:t> </a:t>
            </a:r>
            <a:r>
              <a:rPr spc="-345" dirty="0"/>
              <a:t>Transport</a:t>
            </a:r>
            <a:r>
              <a:rPr spc="-490" dirty="0"/>
              <a:t> </a:t>
            </a:r>
            <a:r>
              <a:rPr spc="-425" dirty="0"/>
              <a:t>Landscape.</a:t>
            </a:r>
            <a:endParaRPr spc="-425" dirty="0"/>
          </a:p>
        </p:txBody>
      </p:sp>
      <p:sp>
        <p:nvSpPr>
          <p:cNvPr id="10" name="object 10"/>
          <p:cNvSpPr txBox="1"/>
          <p:nvPr/>
        </p:nvSpPr>
        <p:spPr>
          <a:xfrm>
            <a:off x="9068967" y="1942307"/>
            <a:ext cx="4620895" cy="3263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50" spc="-2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Market</a:t>
            </a:r>
            <a:r>
              <a:rPr sz="1950" spc="-17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950" spc="-7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Matrix:</a:t>
            </a:r>
            <a:r>
              <a:rPr sz="1950" spc="-17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950" spc="-3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Safety</a:t>
            </a:r>
            <a:r>
              <a:rPr sz="1950" spc="-17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950" spc="-9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vs.</a:t>
            </a:r>
            <a:r>
              <a:rPr sz="1950" spc="-17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950" spc="-1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Affordability</a:t>
            </a:r>
            <a:endParaRPr sz="195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6199" y="5124870"/>
            <a:ext cx="920115" cy="510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9390" marR="5080" indent="-187325">
              <a:lnSpc>
                <a:spcPct val="114000"/>
              </a:lnSpc>
              <a:spcBef>
                <a:spcPts val="95"/>
              </a:spcBef>
            </a:pPr>
            <a:r>
              <a:rPr sz="1400" spc="-65" dirty="0">
                <a:latin typeface="Verdana" panose="020B0604030504040204"/>
                <a:cs typeface="Verdana" panose="020B0604030504040204"/>
              </a:rPr>
              <a:t>Kakumago </a:t>
            </a:r>
            <a:r>
              <a:rPr sz="1400" spc="-10" dirty="0">
                <a:latin typeface="Verdana" panose="020B0604030504040204"/>
                <a:cs typeface="Verdana" panose="020B0604030504040204"/>
              </a:rPr>
              <a:t>54.3%</a:t>
            </a:r>
            <a:endParaRPr sz="1400">
              <a:latin typeface="Verdana" panose="020B0604030504040204"/>
              <a:cs typeface="Verdana" panose="020B060403050404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41287" y="2720049"/>
            <a:ext cx="4587240" cy="4587240"/>
            <a:chOff x="1541287" y="2720049"/>
            <a:chExt cx="4587240" cy="4587240"/>
          </a:xfrm>
        </p:grpSpPr>
        <p:sp>
          <p:nvSpPr>
            <p:cNvPr id="4" name="object 4"/>
            <p:cNvSpPr/>
            <p:nvPr/>
          </p:nvSpPr>
          <p:spPr>
            <a:xfrm>
              <a:off x="3834871" y="2720049"/>
              <a:ext cx="2019935" cy="2293620"/>
            </a:xfrm>
            <a:custGeom>
              <a:avLst/>
              <a:gdLst/>
              <a:ahLst/>
              <a:cxnLst/>
              <a:rect l="l" t="t" r="r" b="b"/>
              <a:pathLst>
                <a:path w="2019935" h="2293620">
                  <a:moveTo>
                    <a:pt x="0" y="2293586"/>
                  </a:moveTo>
                  <a:lnTo>
                    <a:pt x="0" y="0"/>
                  </a:lnTo>
                  <a:lnTo>
                    <a:pt x="38604" y="324"/>
                  </a:lnTo>
                  <a:lnTo>
                    <a:pt x="77187" y="1298"/>
                  </a:lnTo>
                  <a:lnTo>
                    <a:pt x="115748" y="2922"/>
                  </a:lnTo>
                  <a:lnTo>
                    <a:pt x="154287" y="5195"/>
                  </a:lnTo>
                  <a:lnTo>
                    <a:pt x="192782" y="8115"/>
                  </a:lnTo>
                  <a:lnTo>
                    <a:pt x="231212" y="11683"/>
                  </a:lnTo>
                  <a:lnTo>
                    <a:pt x="269576" y="15896"/>
                  </a:lnTo>
                  <a:lnTo>
                    <a:pt x="307875" y="20757"/>
                  </a:lnTo>
                  <a:lnTo>
                    <a:pt x="346087" y="26260"/>
                  </a:lnTo>
                  <a:lnTo>
                    <a:pt x="384190" y="32405"/>
                  </a:lnTo>
                  <a:lnTo>
                    <a:pt x="422184" y="39190"/>
                  </a:lnTo>
                  <a:lnTo>
                    <a:pt x="460069" y="46615"/>
                  </a:lnTo>
                  <a:lnTo>
                    <a:pt x="497824" y="54677"/>
                  </a:lnTo>
                  <a:lnTo>
                    <a:pt x="535427" y="63371"/>
                  </a:lnTo>
                  <a:lnTo>
                    <a:pt x="572878" y="72696"/>
                  </a:lnTo>
                  <a:lnTo>
                    <a:pt x="610178" y="82653"/>
                  </a:lnTo>
                  <a:lnTo>
                    <a:pt x="647305" y="93236"/>
                  </a:lnTo>
                  <a:lnTo>
                    <a:pt x="684238" y="104440"/>
                  </a:lnTo>
                  <a:lnTo>
                    <a:pt x="720978" y="116263"/>
                  </a:lnTo>
                  <a:lnTo>
                    <a:pt x="757523" y="128707"/>
                  </a:lnTo>
                  <a:lnTo>
                    <a:pt x="793854" y="141764"/>
                  </a:lnTo>
                  <a:lnTo>
                    <a:pt x="829950" y="155426"/>
                  </a:lnTo>
                  <a:lnTo>
                    <a:pt x="865811" y="169695"/>
                  </a:lnTo>
                  <a:lnTo>
                    <a:pt x="901436" y="184569"/>
                  </a:lnTo>
                  <a:lnTo>
                    <a:pt x="936807" y="200040"/>
                  </a:lnTo>
                  <a:lnTo>
                    <a:pt x="971902" y="216100"/>
                  </a:lnTo>
                  <a:lnTo>
                    <a:pt x="1006722" y="232748"/>
                  </a:lnTo>
                  <a:lnTo>
                    <a:pt x="1041266" y="249985"/>
                  </a:lnTo>
                  <a:lnTo>
                    <a:pt x="1075516" y="267800"/>
                  </a:lnTo>
                  <a:lnTo>
                    <a:pt x="1109451" y="286185"/>
                  </a:lnTo>
                  <a:lnTo>
                    <a:pt x="1143072" y="305137"/>
                  </a:lnTo>
                  <a:lnTo>
                    <a:pt x="1176378" y="324659"/>
                  </a:lnTo>
                  <a:lnTo>
                    <a:pt x="1209352" y="344738"/>
                  </a:lnTo>
                  <a:lnTo>
                    <a:pt x="1241974" y="365363"/>
                  </a:lnTo>
                  <a:lnTo>
                    <a:pt x="1274243" y="386535"/>
                  </a:lnTo>
                  <a:lnTo>
                    <a:pt x="1306161" y="408252"/>
                  </a:lnTo>
                  <a:lnTo>
                    <a:pt x="1337710" y="430504"/>
                  </a:lnTo>
                  <a:lnTo>
                    <a:pt x="1368870" y="453277"/>
                  </a:lnTo>
                  <a:lnTo>
                    <a:pt x="1399642" y="476572"/>
                  </a:lnTo>
                  <a:lnTo>
                    <a:pt x="1430027" y="500387"/>
                  </a:lnTo>
                  <a:lnTo>
                    <a:pt x="1460007" y="524711"/>
                  </a:lnTo>
                  <a:lnTo>
                    <a:pt x="1489565" y="549528"/>
                  </a:lnTo>
                  <a:lnTo>
                    <a:pt x="1518701" y="574840"/>
                  </a:lnTo>
                  <a:lnTo>
                    <a:pt x="1547415" y="600646"/>
                  </a:lnTo>
                  <a:lnTo>
                    <a:pt x="1575691" y="626931"/>
                  </a:lnTo>
                  <a:lnTo>
                    <a:pt x="1603512" y="653681"/>
                  </a:lnTo>
                  <a:lnTo>
                    <a:pt x="1630879" y="680895"/>
                  </a:lnTo>
                  <a:lnTo>
                    <a:pt x="1657792" y="708574"/>
                  </a:lnTo>
                  <a:lnTo>
                    <a:pt x="1684236" y="736701"/>
                  </a:lnTo>
                  <a:lnTo>
                    <a:pt x="1710195" y="765262"/>
                  </a:lnTo>
                  <a:lnTo>
                    <a:pt x="1735669" y="794255"/>
                  </a:lnTo>
                  <a:lnTo>
                    <a:pt x="1760659" y="823682"/>
                  </a:lnTo>
                  <a:lnTo>
                    <a:pt x="1785151" y="853525"/>
                  </a:lnTo>
                  <a:lnTo>
                    <a:pt x="1809130" y="883767"/>
                  </a:lnTo>
                  <a:lnTo>
                    <a:pt x="1832596" y="914408"/>
                  </a:lnTo>
                  <a:lnTo>
                    <a:pt x="1855550" y="945449"/>
                  </a:lnTo>
                  <a:lnTo>
                    <a:pt x="1877979" y="976872"/>
                  </a:lnTo>
                  <a:lnTo>
                    <a:pt x="1899869" y="1008659"/>
                  </a:lnTo>
                  <a:lnTo>
                    <a:pt x="1921221" y="1040809"/>
                  </a:lnTo>
                  <a:lnTo>
                    <a:pt x="1942035" y="1073324"/>
                  </a:lnTo>
                  <a:lnTo>
                    <a:pt x="1962299" y="1106184"/>
                  </a:lnTo>
                  <a:lnTo>
                    <a:pt x="1982001" y="1139372"/>
                  </a:lnTo>
                  <a:lnTo>
                    <a:pt x="2001142" y="1172886"/>
                  </a:lnTo>
                  <a:lnTo>
                    <a:pt x="2019721" y="1206727"/>
                  </a:lnTo>
                  <a:lnTo>
                    <a:pt x="0" y="2293586"/>
                  </a:lnTo>
                  <a:close/>
                </a:path>
              </a:pathLst>
            </a:custGeom>
            <a:solidFill>
              <a:srgbClr val="4A7E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834871" y="3926777"/>
              <a:ext cx="2293620" cy="3298190"/>
            </a:xfrm>
            <a:custGeom>
              <a:avLst/>
              <a:gdLst/>
              <a:ahLst/>
              <a:cxnLst/>
              <a:rect l="l" t="t" r="r" b="b"/>
              <a:pathLst>
                <a:path w="2293620" h="3298190">
                  <a:moveTo>
                    <a:pt x="610178" y="3297790"/>
                  </a:moveTo>
                  <a:lnTo>
                    <a:pt x="0" y="1086858"/>
                  </a:lnTo>
                  <a:lnTo>
                    <a:pt x="2019721" y="0"/>
                  </a:lnTo>
                  <a:lnTo>
                    <a:pt x="2034767" y="28435"/>
                  </a:lnTo>
                  <a:lnTo>
                    <a:pt x="2063649" y="85913"/>
                  </a:lnTo>
                  <a:lnTo>
                    <a:pt x="2090912" y="144190"/>
                  </a:lnTo>
                  <a:lnTo>
                    <a:pt x="2116526" y="203197"/>
                  </a:lnTo>
                  <a:lnTo>
                    <a:pt x="2140479" y="262912"/>
                  </a:lnTo>
                  <a:lnTo>
                    <a:pt x="2162743" y="323262"/>
                  </a:lnTo>
                  <a:lnTo>
                    <a:pt x="2183311" y="384225"/>
                  </a:lnTo>
                  <a:lnTo>
                    <a:pt x="2202156" y="445729"/>
                  </a:lnTo>
                  <a:lnTo>
                    <a:pt x="2219273" y="507750"/>
                  </a:lnTo>
                  <a:lnTo>
                    <a:pt x="2234640" y="570214"/>
                  </a:lnTo>
                  <a:lnTo>
                    <a:pt x="2248252" y="633097"/>
                  </a:lnTo>
                  <a:lnTo>
                    <a:pt x="2260093" y="696324"/>
                  </a:lnTo>
                  <a:lnTo>
                    <a:pt x="2270158" y="759871"/>
                  </a:lnTo>
                  <a:lnTo>
                    <a:pt x="2278435" y="823663"/>
                  </a:lnTo>
                  <a:lnTo>
                    <a:pt x="2284921" y="887674"/>
                  </a:lnTo>
                  <a:lnTo>
                    <a:pt x="2289608" y="951830"/>
                  </a:lnTo>
                  <a:lnTo>
                    <a:pt x="2292495" y="1016104"/>
                  </a:lnTo>
                  <a:lnTo>
                    <a:pt x="2293577" y="1080422"/>
                  </a:lnTo>
                  <a:lnTo>
                    <a:pt x="2293442" y="1112592"/>
                  </a:lnTo>
                  <a:lnTo>
                    <a:pt x="2291818" y="1176904"/>
                  </a:lnTo>
                  <a:lnTo>
                    <a:pt x="2288391" y="1241145"/>
                  </a:lnTo>
                  <a:lnTo>
                    <a:pt x="2283164" y="1305266"/>
                  </a:lnTo>
                  <a:lnTo>
                    <a:pt x="2276140" y="1369214"/>
                  </a:lnTo>
                  <a:lnTo>
                    <a:pt x="2267326" y="1432940"/>
                  </a:lnTo>
                  <a:lnTo>
                    <a:pt x="2256727" y="1496394"/>
                  </a:lnTo>
                  <a:lnTo>
                    <a:pt x="2244354" y="1559526"/>
                  </a:lnTo>
                  <a:lnTo>
                    <a:pt x="2230214" y="1622285"/>
                  </a:lnTo>
                  <a:lnTo>
                    <a:pt x="2214321" y="1684624"/>
                  </a:lnTo>
                  <a:lnTo>
                    <a:pt x="2196684" y="1746492"/>
                  </a:lnTo>
                  <a:lnTo>
                    <a:pt x="2177320" y="1807842"/>
                  </a:lnTo>
                  <a:lnTo>
                    <a:pt x="2156242" y="1868624"/>
                  </a:lnTo>
                  <a:lnTo>
                    <a:pt x="2133469" y="1928791"/>
                  </a:lnTo>
                  <a:lnTo>
                    <a:pt x="2109016" y="1988295"/>
                  </a:lnTo>
                  <a:lnTo>
                    <a:pt x="2082905" y="2047091"/>
                  </a:lnTo>
                  <a:lnTo>
                    <a:pt x="2055154" y="2105131"/>
                  </a:lnTo>
                  <a:lnTo>
                    <a:pt x="2025787" y="2162369"/>
                  </a:lnTo>
                  <a:lnTo>
                    <a:pt x="1994826" y="2218762"/>
                  </a:lnTo>
                  <a:lnTo>
                    <a:pt x="1962296" y="2274264"/>
                  </a:lnTo>
                  <a:lnTo>
                    <a:pt x="1928222" y="2328832"/>
                  </a:lnTo>
                  <a:lnTo>
                    <a:pt x="1892630" y="2382423"/>
                  </a:lnTo>
                  <a:lnTo>
                    <a:pt x="1855550" y="2434994"/>
                  </a:lnTo>
                  <a:lnTo>
                    <a:pt x="1817010" y="2486505"/>
                  </a:lnTo>
                  <a:lnTo>
                    <a:pt x="1777040" y="2536915"/>
                  </a:lnTo>
                  <a:lnTo>
                    <a:pt x="1735673" y="2586184"/>
                  </a:lnTo>
                  <a:lnTo>
                    <a:pt x="1692939" y="2634273"/>
                  </a:lnTo>
                  <a:lnTo>
                    <a:pt x="1648874" y="2681145"/>
                  </a:lnTo>
                  <a:lnTo>
                    <a:pt x="1603512" y="2726763"/>
                  </a:lnTo>
                  <a:lnTo>
                    <a:pt x="1556888" y="2771090"/>
                  </a:lnTo>
                  <a:lnTo>
                    <a:pt x="1509039" y="2814093"/>
                  </a:lnTo>
                  <a:lnTo>
                    <a:pt x="1460003" y="2855736"/>
                  </a:lnTo>
                  <a:lnTo>
                    <a:pt x="1409818" y="2895988"/>
                  </a:lnTo>
                  <a:lnTo>
                    <a:pt x="1358524" y="2934817"/>
                  </a:lnTo>
                  <a:lnTo>
                    <a:pt x="1306162" y="2972191"/>
                  </a:lnTo>
                  <a:lnTo>
                    <a:pt x="1252771" y="3008082"/>
                  </a:lnTo>
                  <a:lnTo>
                    <a:pt x="1198395" y="3042462"/>
                  </a:lnTo>
                  <a:lnTo>
                    <a:pt x="1143077" y="3075303"/>
                  </a:lnTo>
                  <a:lnTo>
                    <a:pt x="1086858" y="3106580"/>
                  </a:lnTo>
                  <a:lnTo>
                    <a:pt x="1029785" y="3136268"/>
                  </a:lnTo>
                  <a:lnTo>
                    <a:pt x="971902" y="3164343"/>
                  </a:lnTo>
                  <a:lnTo>
                    <a:pt x="913254" y="3190784"/>
                  </a:lnTo>
                  <a:lnTo>
                    <a:pt x="853887" y="3215570"/>
                  </a:lnTo>
                  <a:lnTo>
                    <a:pt x="793849" y="3238681"/>
                  </a:lnTo>
                  <a:lnTo>
                    <a:pt x="733186" y="3260099"/>
                  </a:lnTo>
                  <a:lnTo>
                    <a:pt x="671946" y="3279807"/>
                  </a:lnTo>
                  <a:lnTo>
                    <a:pt x="610178" y="3297790"/>
                  </a:lnTo>
                  <a:close/>
                </a:path>
              </a:pathLst>
            </a:custGeom>
            <a:solidFill>
              <a:srgbClr val="AE8C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541287" y="2720049"/>
              <a:ext cx="2903855" cy="4587240"/>
            </a:xfrm>
            <a:custGeom>
              <a:avLst/>
              <a:gdLst/>
              <a:ahLst/>
              <a:cxnLst/>
              <a:rect l="l" t="t" r="r" b="b"/>
              <a:pathLst>
                <a:path w="2903854" h="4587240">
                  <a:moveTo>
                    <a:pt x="2300034" y="4587163"/>
                  </a:moveTo>
                  <a:lnTo>
                    <a:pt x="2238923" y="4586521"/>
                  </a:lnTo>
                  <a:lnTo>
                    <a:pt x="2177851" y="4584250"/>
                  </a:lnTo>
                  <a:lnTo>
                    <a:pt x="2116861" y="4580354"/>
                  </a:lnTo>
                  <a:lnTo>
                    <a:pt x="2055996" y="4574833"/>
                  </a:lnTo>
                  <a:lnTo>
                    <a:pt x="1995300" y="4567693"/>
                  </a:lnTo>
                  <a:lnTo>
                    <a:pt x="1934815" y="4558939"/>
                  </a:lnTo>
                  <a:lnTo>
                    <a:pt x="1874586" y="4548575"/>
                  </a:lnTo>
                  <a:lnTo>
                    <a:pt x="1814654" y="4536611"/>
                  </a:lnTo>
                  <a:lnTo>
                    <a:pt x="1755062" y="4523055"/>
                  </a:lnTo>
                  <a:lnTo>
                    <a:pt x="1695852" y="4507915"/>
                  </a:lnTo>
                  <a:lnTo>
                    <a:pt x="1637067" y="4491203"/>
                  </a:lnTo>
                  <a:lnTo>
                    <a:pt x="1578748" y="4472931"/>
                  </a:lnTo>
                  <a:lnTo>
                    <a:pt x="1520936" y="4453112"/>
                  </a:lnTo>
                  <a:lnTo>
                    <a:pt x="1463673" y="4431759"/>
                  </a:lnTo>
                  <a:lnTo>
                    <a:pt x="1406999" y="4408889"/>
                  </a:lnTo>
                  <a:lnTo>
                    <a:pt x="1350955" y="4384516"/>
                  </a:lnTo>
                  <a:lnTo>
                    <a:pt x="1295580" y="4358659"/>
                  </a:lnTo>
                  <a:lnTo>
                    <a:pt x="1240913" y="4331335"/>
                  </a:lnTo>
                  <a:lnTo>
                    <a:pt x="1186994" y="4302565"/>
                  </a:lnTo>
                  <a:lnTo>
                    <a:pt x="1133861" y="4272368"/>
                  </a:lnTo>
                  <a:lnTo>
                    <a:pt x="1081551" y="4240767"/>
                  </a:lnTo>
                  <a:lnTo>
                    <a:pt x="1030101" y="4207783"/>
                  </a:lnTo>
                  <a:lnTo>
                    <a:pt x="979549" y="4173440"/>
                  </a:lnTo>
                  <a:lnTo>
                    <a:pt x="929929" y="4137762"/>
                  </a:lnTo>
                  <a:lnTo>
                    <a:pt x="881278" y="4100775"/>
                  </a:lnTo>
                  <a:lnTo>
                    <a:pt x="833630" y="4062504"/>
                  </a:lnTo>
                  <a:lnTo>
                    <a:pt x="787018" y="4022978"/>
                  </a:lnTo>
                  <a:lnTo>
                    <a:pt x="741476" y="3982224"/>
                  </a:lnTo>
                  <a:lnTo>
                    <a:pt x="697035" y="3940271"/>
                  </a:lnTo>
                  <a:lnTo>
                    <a:pt x="653729" y="3897149"/>
                  </a:lnTo>
                  <a:lnTo>
                    <a:pt x="611586" y="3852888"/>
                  </a:lnTo>
                  <a:lnTo>
                    <a:pt x="570638" y="3807520"/>
                  </a:lnTo>
                  <a:lnTo>
                    <a:pt x="530913" y="3761077"/>
                  </a:lnTo>
                  <a:lnTo>
                    <a:pt x="492440" y="3713593"/>
                  </a:lnTo>
                  <a:lnTo>
                    <a:pt x="455245" y="3665100"/>
                  </a:lnTo>
                  <a:lnTo>
                    <a:pt x="419356" y="3615633"/>
                  </a:lnTo>
                  <a:lnTo>
                    <a:pt x="384797" y="3565228"/>
                  </a:lnTo>
                  <a:lnTo>
                    <a:pt x="351594" y="3513920"/>
                  </a:lnTo>
                  <a:lnTo>
                    <a:pt x="319769" y="3461745"/>
                  </a:lnTo>
                  <a:lnTo>
                    <a:pt x="289346" y="3408741"/>
                  </a:lnTo>
                  <a:lnTo>
                    <a:pt x="260346" y="3354945"/>
                  </a:lnTo>
                  <a:lnTo>
                    <a:pt x="232790" y="3300396"/>
                  </a:lnTo>
                  <a:lnTo>
                    <a:pt x="206696" y="3245132"/>
                  </a:lnTo>
                  <a:lnTo>
                    <a:pt x="182084" y="3189192"/>
                  </a:lnTo>
                  <a:lnTo>
                    <a:pt x="158972" y="3132616"/>
                  </a:lnTo>
                  <a:lnTo>
                    <a:pt x="137375" y="3075445"/>
                  </a:lnTo>
                  <a:lnTo>
                    <a:pt x="117309" y="3017718"/>
                  </a:lnTo>
                  <a:lnTo>
                    <a:pt x="98788" y="2959478"/>
                  </a:lnTo>
                  <a:lnTo>
                    <a:pt x="81826" y="2900764"/>
                  </a:lnTo>
                  <a:lnTo>
                    <a:pt x="66434" y="2841620"/>
                  </a:lnTo>
                  <a:lnTo>
                    <a:pt x="52623" y="2782086"/>
                  </a:lnTo>
                  <a:lnTo>
                    <a:pt x="40403" y="2722206"/>
                  </a:lnTo>
                  <a:lnTo>
                    <a:pt x="29783" y="2662021"/>
                  </a:lnTo>
                  <a:lnTo>
                    <a:pt x="20770" y="2601575"/>
                  </a:lnTo>
                  <a:lnTo>
                    <a:pt x="13371" y="2540910"/>
                  </a:lnTo>
                  <a:lnTo>
                    <a:pt x="7591" y="2480069"/>
                  </a:lnTo>
                  <a:lnTo>
                    <a:pt x="3434" y="2419096"/>
                  </a:lnTo>
                  <a:lnTo>
                    <a:pt x="903" y="2358034"/>
                  </a:lnTo>
                  <a:lnTo>
                    <a:pt x="0" y="2296926"/>
                  </a:lnTo>
                  <a:lnTo>
                    <a:pt x="159" y="2266371"/>
                  </a:lnTo>
                  <a:lnTo>
                    <a:pt x="1698" y="2205270"/>
                  </a:lnTo>
                  <a:lnTo>
                    <a:pt x="4864" y="2144243"/>
                  </a:lnTo>
                  <a:lnTo>
                    <a:pt x="9656" y="2083311"/>
                  </a:lnTo>
                  <a:lnTo>
                    <a:pt x="16069" y="2022540"/>
                  </a:lnTo>
                  <a:lnTo>
                    <a:pt x="24100" y="1961950"/>
                  </a:lnTo>
                  <a:lnTo>
                    <a:pt x="33741" y="1901606"/>
                  </a:lnTo>
                  <a:lnTo>
                    <a:pt x="44988" y="1841529"/>
                  </a:lnTo>
                  <a:lnTo>
                    <a:pt x="57829" y="1781785"/>
                  </a:lnTo>
                  <a:lnTo>
                    <a:pt x="72260" y="1722393"/>
                  </a:lnTo>
                  <a:lnTo>
                    <a:pt x="88266" y="1663417"/>
                  </a:lnTo>
                  <a:lnTo>
                    <a:pt x="105840" y="1604878"/>
                  </a:lnTo>
                  <a:lnTo>
                    <a:pt x="124965" y="1546839"/>
                  </a:lnTo>
                  <a:lnTo>
                    <a:pt x="145633" y="1489319"/>
                  </a:lnTo>
                  <a:lnTo>
                    <a:pt x="167822" y="1432381"/>
                  </a:lnTo>
                  <a:lnTo>
                    <a:pt x="191524" y="1376044"/>
                  </a:lnTo>
                  <a:lnTo>
                    <a:pt x="216714" y="1320368"/>
                  </a:lnTo>
                  <a:lnTo>
                    <a:pt x="243384" y="1265374"/>
                  </a:lnTo>
                  <a:lnTo>
                    <a:pt x="271504" y="1211119"/>
                  </a:lnTo>
                  <a:lnTo>
                    <a:pt x="301066" y="1157623"/>
                  </a:lnTo>
                  <a:lnTo>
                    <a:pt x="332036" y="1104944"/>
                  </a:lnTo>
                  <a:lnTo>
                    <a:pt x="364405" y="1053098"/>
                  </a:lnTo>
                  <a:lnTo>
                    <a:pt x="398138" y="1002143"/>
                  </a:lnTo>
                  <a:lnTo>
                    <a:pt x="433222" y="952096"/>
                  </a:lnTo>
                  <a:lnTo>
                    <a:pt x="469622" y="903010"/>
                  </a:lnTo>
                  <a:lnTo>
                    <a:pt x="507322" y="854903"/>
                  </a:lnTo>
                  <a:lnTo>
                    <a:pt x="546284" y="807825"/>
                  </a:lnTo>
                  <a:lnTo>
                    <a:pt x="586494" y="761795"/>
                  </a:lnTo>
                  <a:lnTo>
                    <a:pt x="627909" y="716859"/>
                  </a:lnTo>
                  <a:lnTo>
                    <a:pt x="670513" y="673036"/>
                  </a:lnTo>
                  <a:lnTo>
                    <a:pt x="714263" y="630371"/>
                  </a:lnTo>
                  <a:lnTo>
                    <a:pt x="759141" y="588879"/>
                  </a:lnTo>
                  <a:lnTo>
                    <a:pt x="805101" y="548605"/>
                  </a:lnTo>
                  <a:lnTo>
                    <a:pt x="852126" y="509562"/>
                  </a:lnTo>
                  <a:lnTo>
                    <a:pt x="900166" y="471793"/>
                  </a:lnTo>
                  <a:lnTo>
                    <a:pt x="949204" y="435312"/>
                  </a:lnTo>
                  <a:lnTo>
                    <a:pt x="999188" y="400155"/>
                  </a:lnTo>
                  <a:lnTo>
                    <a:pt x="1050100" y="366337"/>
                  </a:lnTo>
                  <a:lnTo>
                    <a:pt x="1101885" y="333894"/>
                  </a:lnTo>
                  <a:lnTo>
                    <a:pt x="1154526" y="302836"/>
                  </a:lnTo>
                  <a:lnTo>
                    <a:pt x="1207966" y="273196"/>
                  </a:lnTo>
                  <a:lnTo>
                    <a:pt x="1262186" y="244987"/>
                  </a:lnTo>
                  <a:lnTo>
                    <a:pt x="1317129" y="218236"/>
                  </a:lnTo>
                  <a:lnTo>
                    <a:pt x="1372776" y="192955"/>
                  </a:lnTo>
                  <a:lnTo>
                    <a:pt x="1429066" y="169169"/>
                  </a:lnTo>
                  <a:lnTo>
                    <a:pt x="1485980" y="146887"/>
                  </a:lnTo>
                  <a:lnTo>
                    <a:pt x="1543457" y="126134"/>
                  </a:lnTo>
                  <a:lnTo>
                    <a:pt x="1601477" y="106915"/>
                  </a:lnTo>
                  <a:lnTo>
                    <a:pt x="1659978" y="89253"/>
                  </a:lnTo>
                  <a:lnTo>
                    <a:pt x="1718939" y="73153"/>
                  </a:lnTo>
                  <a:lnTo>
                    <a:pt x="1778298" y="58632"/>
                  </a:lnTo>
                  <a:lnTo>
                    <a:pt x="1838033" y="45695"/>
                  </a:lnTo>
                  <a:lnTo>
                    <a:pt x="1898081" y="34357"/>
                  </a:lnTo>
                  <a:lnTo>
                    <a:pt x="1958421" y="24620"/>
                  </a:lnTo>
                  <a:lnTo>
                    <a:pt x="2018987" y="16497"/>
                  </a:lnTo>
                  <a:lnTo>
                    <a:pt x="2079760" y="9988"/>
                  </a:lnTo>
                  <a:lnTo>
                    <a:pt x="2140674" y="5102"/>
                  </a:lnTo>
                  <a:lnTo>
                    <a:pt x="2201706" y="1840"/>
                  </a:lnTo>
                  <a:lnTo>
                    <a:pt x="2262794" y="206"/>
                  </a:lnTo>
                  <a:lnTo>
                    <a:pt x="2293354" y="0"/>
                  </a:lnTo>
                  <a:lnTo>
                    <a:pt x="2293583" y="2293586"/>
                  </a:lnTo>
                  <a:lnTo>
                    <a:pt x="2903761" y="4504518"/>
                  </a:lnTo>
                  <a:lnTo>
                    <a:pt x="2844638" y="4519990"/>
                  </a:lnTo>
                  <a:lnTo>
                    <a:pt x="2785123" y="4533882"/>
                  </a:lnTo>
                  <a:lnTo>
                    <a:pt x="2725259" y="4546183"/>
                  </a:lnTo>
                  <a:lnTo>
                    <a:pt x="2665089" y="4556885"/>
                  </a:lnTo>
                  <a:lnTo>
                    <a:pt x="2604655" y="4565979"/>
                  </a:lnTo>
                  <a:lnTo>
                    <a:pt x="2544000" y="4573460"/>
                  </a:lnTo>
                  <a:lnTo>
                    <a:pt x="2483167" y="4579323"/>
                  </a:lnTo>
                  <a:lnTo>
                    <a:pt x="2422200" y="4583563"/>
                  </a:lnTo>
                  <a:lnTo>
                    <a:pt x="2361141" y="4586177"/>
                  </a:lnTo>
                  <a:lnTo>
                    <a:pt x="2330594" y="4586873"/>
                  </a:lnTo>
                  <a:lnTo>
                    <a:pt x="2300034" y="4587163"/>
                  </a:lnTo>
                  <a:close/>
                </a:path>
              </a:pathLst>
            </a:custGeom>
            <a:solidFill>
              <a:srgbClr val="F2B86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4697839" y="2284256"/>
            <a:ext cx="1090930" cy="715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61290">
              <a:lnSpc>
                <a:spcPct val="114000"/>
              </a:lnSpc>
              <a:spcBef>
                <a:spcPts val="95"/>
              </a:spcBef>
            </a:pPr>
            <a:r>
              <a:rPr sz="1400" spc="-10" dirty="0">
                <a:latin typeface="Verdana" panose="020B0604030504040204"/>
                <a:cs typeface="Verdana" panose="020B0604030504040204"/>
              </a:rPr>
              <a:t>Informal </a:t>
            </a:r>
            <a:r>
              <a:rPr sz="1400" dirty="0">
                <a:latin typeface="Verdana" panose="020B0604030504040204"/>
                <a:cs typeface="Verdana" panose="020B0604030504040204"/>
              </a:rPr>
              <a:t>Boda-</a:t>
            </a:r>
            <a:r>
              <a:rPr sz="1400" spc="-20" dirty="0">
                <a:latin typeface="Verdana" panose="020B0604030504040204"/>
                <a:cs typeface="Verdana" panose="020B0604030504040204"/>
              </a:rPr>
              <a:t>Bodas</a:t>
            </a:r>
            <a:endParaRPr sz="1400">
              <a:latin typeface="Verdana" panose="020B0604030504040204"/>
              <a:cs typeface="Verdana" panose="020B0604030504040204"/>
            </a:endParaRPr>
          </a:p>
          <a:p>
            <a:pPr marL="322580">
              <a:lnSpc>
                <a:spcPts val="1595"/>
              </a:lnSpc>
            </a:pPr>
            <a:r>
              <a:rPr sz="1400" spc="-55" dirty="0">
                <a:latin typeface="Verdana" panose="020B0604030504040204"/>
                <a:cs typeface="Verdana" panose="020B0604030504040204"/>
              </a:rPr>
              <a:t>17.1%</a:t>
            </a:r>
            <a:endParaRPr sz="14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13908" y="5829529"/>
            <a:ext cx="537210" cy="44577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 marR="5080" indent="13970">
              <a:lnSpc>
                <a:spcPts val="1600"/>
              </a:lnSpc>
              <a:spcBef>
                <a:spcPts val="245"/>
              </a:spcBef>
            </a:pPr>
            <a:r>
              <a:rPr sz="1400" spc="-20" dirty="0">
                <a:latin typeface="Verdana" panose="020B0604030504040204"/>
                <a:cs typeface="Verdana" panose="020B0604030504040204"/>
              </a:rPr>
              <a:t>CBOs </a:t>
            </a:r>
            <a:r>
              <a:rPr sz="1400" spc="-145" dirty="0">
                <a:latin typeface="Verdana" panose="020B0604030504040204"/>
                <a:cs typeface="Verdana" panose="020B0604030504040204"/>
              </a:rPr>
              <a:t>28.6%</a:t>
            </a:r>
            <a:endParaRPr sz="14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244185" y="2585588"/>
            <a:ext cx="8270875" cy="7569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15000"/>
              </a:lnSpc>
              <a:spcBef>
                <a:spcPts val="95"/>
              </a:spcBef>
            </a:pPr>
            <a:r>
              <a:rPr sz="1950" spc="-140" dirty="0">
                <a:solidFill>
                  <a:srgbClr val="041225"/>
                </a:solidFill>
                <a:latin typeface="Arial Black" panose="020B0A04020102020204"/>
                <a:cs typeface="Arial Black" panose="020B0A04020102020204"/>
              </a:rPr>
              <a:t>Service</a:t>
            </a:r>
            <a:r>
              <a:rPr sz="1950" spc="-105" dirty="0">
                <a:solidFill>
                  <a:srgbClr val="041225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950" spc="-110" dirty="0">
                <a:solidFill>
                  <a:srgbClr val="041225"/>
                </a:solidFill>
                <a:latin typeface="Arial Black" panose="020B0A04020102020204"/>
                <a:cs typeface="Arial Black" panose="020B0A04020102020204"/>
              </a:rPr>
              <a:t>ProviderSafety</a:t>
            </a:r>
            <a:r>
              <a:rPr sz="1950" spc="-100" dirty="0">
                <a:solidFill>
                  <a:srgbClr val="041225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950" spc="-130" dirty="0">
                <a:solidFill>
                  <a:srgbClr val="041225"/>
                </a:solidFill>
                <a:latin typeface="Arial Black" panose="020B0A04020102020204"/>
                <a:cs typeface="Arial Black" panose="020B0A04020102020204"/>
              </a:rPr>
              <a:t>LevelCost</a:t>
            </a:r>
            <a:r>
              <a:rPr sz="1950" spc="-105" dirty="0">
                <a:solidFill>
                  <a:srgbClr val="041225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950" spc="280" dirty="0">
                <a:solidFill>
                  <a:srgbClr val="041225"/>
                </a:solidFill>
                <a:latin typeface="Arial Black" panose="020B0A04020102020204"/>
                <a:cs typeface="Arial Black" panose="020B0A04020102020204"/>
              </a:rPr>
              <a:t>/</a:t>
            </a:r>
            <a:r>
              <a:rPr sz="1950" spc="-100" dirty="0">
                <a:solidFill>
                  <a:srgbClr val="041225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950" spc="-90" dirty="0">
                <a:solidFill>
                  <a:srgbClr val="041225"/>
                </a:solidFill>
                <a:latin typeface="Arial Black" panose="020B0A04020102020204"/>
                <a:cs typeface="Arial Black" panose="020B0A04020102020204"/>
              </a:rPr>
              <a:t>AffordabilityPublic</a:t>
            </a:r>
            <a:r>
              <a:rPr sz="1950" spc="-100" dirty="0">
                <a:solidFill>
                  <a:srgbClr val="041225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950" spc="-85" dirty="0">
                <a:solidFill>
                  <a:srgbClr val="041225"/>
                </a:solidFill>
                <a:latin typeface="Arial Black" panose="020B0A04020102020204"/>
                <a:cs typeface="Arial Black" panose="020B0A04020102020204"/>
              </a:rPr>
              <a:t>Accessibility </a:t>
            </a:r>
            <a:r>
              <a:rPr sz="1950" spc="-95" dirty="0">
                <a:solidFill>
                  <a:srgbClr val="041225"/>
                </a:solidFill>
                <a:latin typeface="Arial Black" panose="020B0A04020102020204"/>
                <a:cs typeface="Arial Black" panose="020B0A04020102020204"/>
              </a:rPr>
              <a:t>Informal</a:t>
            </a:r>
            <a:r>
              <a:rPr sz="1950" spc="-90" dirty="0">
                <a:solidFill>
                  <a:srgbClr val="041225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950" spc="-85" dirty="0">
                <a:solidFill>
                  <a:srgbClr val="041225"/>
                </a:solidFill>
                <a:latin typeface="Arial Black" panose="020B0A04020102020204"/>
                <a:cs typeface="Arial Black" panose="020B0A04020102020204"/>
              </a:rPr>
              <a:t>Boda-</a:t>
            </a:r>
            <a:r>
              <a:rPr sz="1950" spc="-20" dirty="0">
                <a:solidFill>
                  <a:srgbClr val="041225"/>
                </a:solidFill>
                <a:latin typeface="Arial Black" panose="020B0A04020102020204"/>
                <a:cs typeface="Arial Black" panose="020B0A04020102020204"/>
              </a:rPr>
              <a:t>Bodas</a:t>
            </a:r>
            <a:endParaRPr sz="1950">
              <a:latin typeface="Arial Black" panose="020B0A04020102020204"/>
              <a:cs typeface="Arial Black" panose="020B0A04020102020204"/>
            </a:endParaRPr>
          </a:p>
          <a:p>
            <a:pPr marR="53340" algn="ctr">
              <a:lnSpc>
                <a:spcPct val="100000"/>
              </a:lnSpc>
              <a:spcBef>
                <a:spcPts val="60"/>
              </a:spcBef>
            </a:pPr>
            <a:r>
              <a:rPr sz="2250" spc="6300" dirty="0">
                <a:solidFill>
                  <a:srgbClr val="041225"/>
                </a:solidFill>
                <a:latin typeface="Microsoft Sans Serif" panose="020B0604020202020204"/>
                <a:cs typeface="Microsoft Sans Serif" panose="020B0604020202020204"/>
              </a:rPr>
              <a:t>🔴</a:t>
            </a:r>
            <a:r>
              <a:rPr sz="2250" spc="-175" dirty="0">
                <a:solidFill>
                  <a:srgbClr val="041225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-195" dirty="0">
                <a:solidFill>
                  <a:srgbClr val="041225"/>
                </a:solidFill>
                <a:latin typeface="Arial Black" panose="020B0A04020102020204"/>
                <a:cs typeface="Arial Black" panose="020B0A04020102020204"/>
              </a:rPr>
              <a:t>Low</a:t>
            </a:r>
            <a:r>
              <a:rPr sz="1950" spc="-175" dirty="0">
                <a:solidFill>
                  <a:srgbClr val="041225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950" spc="-10" dirty="0">
                <a:solidFill>
                  <a:srgbClr val="041225"/>
                </a:solidFill>
                <a:latin typeface="Arial Black" panose="020B0A04020102020204"/>
                <a:cs typeface="Arial Black" panose="020B0A04020102020204"/>
              </a:rPr>
              <a:t>Safety</a:t>
            </a:r>
            <a:endParaRPr sz="1950">
              <a:latin typeface="Arial Black" panose="020B0A04020102020204"/>
              <a:cs typeface="Arial Black" panose="020B0A04020102020204"/>
            </a:endParaRPr>
          </a:p>
          <a:p>
            <a:pPr marL="60960" algn="ctr">
              <a:lnSpc>
                <a:spcPct val="100000"/>
              </a:lnSpc>
              <a:spcBef>
                <a:spcPts val="300"/>
              </a:spcBef>
            </a:pPr>
            <a:r>
              <a:rPr sz="1950" spc="-7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(Unregulated,</a:t>
            </a:r>
            <a:r>
              <a:rPr sz="1950" spc="-13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950" spc="-6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high</a:t>
            </a:r>
            <a:r>
              <a:rPr sz="1950" spc="-13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95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accident</a:t>
            </a:r>
            <a:r>
              <a:rPr sz="1950" spc="-13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950" spc="-1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risk)</a:t>
            </a:r>
            <a:endParaRPr sz="1950">
              <a:latin typeface="Verdana" panose="020B0604030504040204"/>
              <a:cs typeface="Verdana" panose="020B0604030504040204"/>
            </a:endParaRPr>
          </a:p>
          <a:p>
            <a:pPr marR="53340" algn="ctr">
              <a:lnSpc>
                <a:spcPct val="100000"/>
              </a:lnSpc>
              <a:spcBef>
                <a:spcPts val="60"/>
              </a:spcBef>
            </a:pPr>
            <a:r>
              <a:rPr sz="2250" spc="6320" dirty="0">
                <a:solidFill>
                  <a:srgbClr val="041225"/>
                </a:solidFill>
                <a:latin typeface="Microsoft Sans Serif" panose="020B0604020202020204"/>
                <a:cs typeface="Microsoft Sans Serif" panose="020B0604020202020204"/>
              </a:rPr>
              <a:t>🟢</a:t>
            </a:r>
            <a:r>
              <a:rPr sz="2250" spc="-185" dirty="0">
                <a:solidFill>
                  <a:srgbClr val="041225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-120" dirty="0">
                <a:solidFill>
                  <a:srgbClr val="041225"/>
                </a:solidFill>
                <a:latin typeface="Arial Black" panose="020B0A04020102020204"/>
                <a:cs typeface="Arial Black" panose="020B0A04020102020204"/>
              </a:rPr>
              <a:t>High</a:t>
            </a:r>
            <a:r>
              <a:rPr sz="1950" spc="-175" dirty="0">
                <a:solidFill>
                  <a:srgbClr val="041225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950" spc="-10" dirty="0">
                <a:solidFill>
                  <a:srgbClr val="041225"/>
                </a:solidFill>
                <a:latin typeface="Arial Black" panose="020B0A04020102020204"/>
                <a:cs typeface="Arial Black" panose="020B0A04020102020204"/>
              </a:rPr>
              <a:t>Affordability</a:t>
            </a:r>
            <a:endParaRPr sz="1950">
              <a:latin typeface="Arial Black" panose="020B0A04020102020204"/>
              <a:cs typeface="Arial Black" panose="020B0A04020102020204"/>
            </a:endParaRPr>
          </a:p>
          <a:p>
            <a:pPr marL="60960" algn="ctr">
              <a:lnSpc>
                <a:spcPct val="100000"/>
              </a:lnSpc>
              <a:spcBef>
                <a:spcPts val="300"/>
              </a:spcBef>
            </a:pPr>
            <a:r>
              <a:rPr sz="1950" spc="-6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(Cheap</a:t>
            </a:r>
            <a:r>
              <a:rPr sz="1950" spc="-15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950" spc="-5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per-</a:t>
            </a:r>
            <a:r>
              <a:rPr sz="195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trip</a:t>
            </a:r>
            <a:r>
              <a:rPr sz="1950" spc="-15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950" spc="-1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rates)</a:t>
            </a:r>
            <a:endParaRPr sz="1950">
              <a:latin typeface="Verdana" panose="020B0604030504040204"/>
              <a:cs typeface="Verdana" panose="020B0604030504040204"/>
            </a:endParaRPr>
          </a:p>
          <a:p>
            <a:pPr marR="53975" algn="ctr">
              <a:lnSpc>
                <a:spcPct val="100000"/>
              </a:lnSpc>
              <a:spcBef>
                <a:spcPts val="60"/>
              </a:spcBef>
            </a:pPr>
            <a:r>
              <a:rPr sz="2250" spc="6320" dirty="0">
                <a:solidFill>
                  <a:srgbClr val="041225"/>
                </a:solidFill>
                <a:latin typeface="Microsoft Sans Serif" panose="020B0604020202020204"/>
                <a:cs typeface="Microsoft Sans Serif" panose="020B0604020202020204"/>
              </a:rPr>
              <a:t>🟢</a:t>
            </a:r>
            <a:r>
              <a:rPr sz="2250" spc="-195" dirty="0">
                <a:solidFill>
                  <a:srgbClr val="041225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-20" dirty="0">
                <a:solidFill>
                  <a:srgbClr val="041225"/>
                </a:solidFill>
                <a:latin typeface="Arial Black" panose="020B0A04020102020204"/>
                <a:cs typeface="Arial Black" panose="020B0A04020102020204"/>
              </a:rPr>
              <a:t>Open</a:t>
            </a:r>
            <a:endParaRPr sz="1950">
              <a:latin typeface="Arial Black" panose="020B0A04020102020204"/>
              <a:cs typeface="Arial Black" panose="020B0A04020102020204"/>
            </a:endParaRPr>
          </a:p>
          <a:p>
            <a:pPr marL="60960" algn="ctr">
              <a:lnSpc>
                <a:spcPct val="100000"/>
              </a:lnSpc>
              <a:spcBef>
                <a:spcPts val="300"/>
              </a:spcBef>
            </a:pPr>
            <a:r>
              <a:rPr sz="1950" spc="-6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(Available</a:t>
            </a:r>
            <a:r>
              <a:rPr sz="1950" spc="-16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95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to</a:t>
            </a:r>
            <a:r>
              <a:rPr sz="1950" spc="-16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950" spc="-4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anyone</a:t>
            </a:r>
            <a:r>
              <a:rPr sz="1950" spc="-16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950" spc="-1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on</a:t>
            </a:r>
            <a:r>
              <a:rPr sz="1950" spc="-16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950" spc="-1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950" spc="-16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950" spc="-1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street)</a:t>
            </a:r>
            <a:endParaRPr sz="1950">
              <a:latin typeface="Verdana" panose="020B0604030504040204"/>
              <a:cs typeface="Verdana" panose="020B0604030504040204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sz="1950" spc="-20" dirty="0">
                <a:latin typeface="Arial Black" panose="020B0A04020102020204"/>
                <a:cs typeface="Arial Black" panose="020B0A04020102020204"/>
              </a:rPr>
              <a:t>CBOs</a:t>
            </a:r>
            <a:endParaRPr sz="1950">
              <a:latin typeface="Arial Black" panose="020B0A04020102020204"/>
              <a:cs typeface="Arial Black" panose="020B0A04020102020204"/>
            </a:endParaRPr>
          </a:p>
          <a:p>
            <a:pPr marR="53340" algn="ctr">
              <a:lnSpc>
                <a:spcPct val="100000"/>
              </a:lnSpc>
              <a:spcBef>
                <a:spcPts val="60"/>
              </a:spcBef>
            </a:pPr>
            <a:r>
              <a:rPr sz="2250" spc="6320" dirty="0">
                <a:solidFill>
                  <a:srgbClr val="041225"/>
                </a:solidFill>
                <a:latin typeface="Microsoft Sans Serif" panose="020B0604020202020204"/>
                <a:cs typeface="Microsoft Sans Serif" panose="020B0604020202020204"/>
              </a:rPr>
              <a:t>🟢</a:t>
            </a:r>
            <a:r>
              <a:rPr sz="2250" spc="-185" dirty="0">
                <a:solidFill>
                  <a:srgbClr val="041225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-120" dirty="0">
                <a:solidFill>
                  <a:srgbClr val="041225"/>
                </a:solidFill>
                <a:latin typeface="Arial Black" panose="020B0A04020102020204"/>
                <a:cs typeface="Arial Black" panose="020B0A04020102020204"/>
              </a:rPr>
              <a:t>High</a:t>
            </a:r>
            <a:r>
              <a:rPr sz="1950" spc="-175" dirty="0">
                <a:solidFill>
                  <a:srgbClr val="041225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950" spc="-10" dirty="0">
                <a:solidFill>
                  <a:srgbClr val="041225"/>
                </a:solidFill>
                <a:latin typeface="Arial Black" panose="020B0A04020102020204"/>
                <a:cs typeface="Arial Black" panose="020B0A04020102020204"/>
              </a:rPr>
              <a:t>Safety</a:t>
            </a:r>
            <a:endParaRPr sz="1950">
              <a:latin typeface="Arial Black" panose="020B0A04020102020204"/>
              <a:cs typeface="Arial Black" panose="020B0A04020102020204"/>
            </a:endParaRPr>
          </a:p>
          <a:p>
            <a:pPr marL="60960" algn="ctr">
              <a:lnSpc>
                <a:spcPct val="100000"/>
              </a:lnSpc>
              <a:spcBef>
                <a:spcPts val="300"/>
              </a:spcBef>
            </a:pPr>
            <a:r>
              <a:rPr sz="1950" spc="-8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(Regulated,</a:t>
            </a:r>
            <a:r>
              <a:rPr sz="1950" spc="-8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950" spc="-5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well-</a:t>
            </a:r>
            <a:r>
              <a:rPr sz="1950" spc="-1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maintained)</a:t>
            </a:r>
            <a:endParaRPr sz="1950">
              <a:latin typeface="Verdana" panose="020B0604030504040204"/>
              <a:cs typeface="Verdana" panose="020B0604030504040204"/>
            </a:endParaRPr>
          </a:p>
          <a:p>
            <a:pPr marR="53340" algn="ctr">
              <a:lnSpc>
                <a:spcPct val="100000"/>
              </a:lnSpc>
              <a:spcBef>
                <a:spcPts val="60"/>
              </a:spcBef>
            </a:pPr>
            <a:r>
              <a:rPr sz="2250" spc="6300" dirty="0">
                <a:solidFill>
                  <a:srgbClr val="041225"/>
                </a:solidFill>
                <a:latin typeface="Microsoft Sans Serif" panose="020B0604020202020204"/>
                <a:cs typeface="Microsoft Sans Serif" panose="020B0604020202020204"/>
              </a:rPr>
              <a:t>🔴</a:t>
            </a:r>
            <a:r>
              <a:rPr sz="2250" spc="-175" dirty="0">
                <a:solidFill>
                  <a:srgbClr val="041225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-120" dirty="0">
                <a:solidFill>
                  <a:srgbClr val="041225"/>
                </a:solidFill>
                <a:latin typeface="Arial Black" panose="020B0A04020102020204"/>
                <a:cs typeface="Arial Black" panose="020B0A04020102020204"/>
              </a:rPr>
              <a:t>High</a:t>
            </a:r>
            <a:r>
              <a:rPr sz="1950" spc="-175" dirty="0">
                <a:solidFill>
                  <a:srgbClr val="041225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950" spc="-20" dirty="0">
                <a:solidFill>
                  <a:srgbClr val="041225"/>
                </a:solidFill>
                <a:latin typeface="Arial Black" panose="020B0A04020102020204"/>
                <a:cs typeface="Arial Black" panose="020B0A04020102020204"/>
              </a:rPr>
              <a:t>Cost</a:t>
            </a:r>
            <a:endParaRPr sz="1950">
              <a:latin typeface="Arial Black" panose="020B0A04020102020204"/>
              <a:cs typeface="Arial Black" panose="020B0A04020102020204"/>
            </a:endParaRPr>
          </a:p>
          <a:p>
            <a:pPr marL="60960" algn="ctr">
              <a:lnSpc>
                <a:spcPct val="100000"/>
              </a:lnSpc>
              <a:spcBef>
                <a:spcPts val="300"/>
              </a:spcBef>
            </a:pPr>
            <a:r>
              <a:rPr sz="1950" spc="-7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(Expensive</a:t>
            </a:r>
            <a:r>
              <a:rPr sz="1950" spc="-12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950" spc="-1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infrastructure)</a:t>
            </a:r>
            <a:endParaRPr sz="1950">
              <a:latin typeface="Verdana" panose="020B0604030504040204"/>
              <a:cs typeface="Verdana" panose="020B0604030504040204"/>
            </a:endParaRPr>
          </a:p>
          <a:p>
            <a:pPr marR="53340" algn="ctr">
              <a:lnSpc>
                <a:spcPct val="100000"/>
              </a:lnSpc>
              <a:spcBef>
                <a:spcPts val="60"/>
              </a:spcBef>
            </a:pPr>
            <a:r>
              <a:rPr sz="2250" spc="6300" dirty="0">
                <a:solidFill>
                  <a:srgbClr val="041225"/>
                </a:solidFill>
                <a:latin typeface="Microsoft Sans Serif" panose="020B0604020202020204"/>
                <a:cs typeface="Microsoft Sans Serif" panose="020B0604020202020204"/>
              </a:rPr>
              <a:t>🔴</a:t>
            </a:r>
            <a:r>
              <a:rPr sz="2250" spc="-185" dirty="0">
                <a:solidFill>
                  <a:srgbClr val="041225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-10" dirty="0">
                <a:solidFill>
                  <a:srgbClr val="041225"/>
                </a:solidFill>
                <a:latin typeface="Arial Black" panose="020B0A04020102020204"/>
                <a:cs typeface="Arial Black" panose="020B0A04020102020204"/>
              </a:rPr>
              <a:t>Closed</a:t>
            </a:r>
            <a:endParaRPr sz="1950">
              <a:latin typeface="Arial Black" panose="020B0A04020102020204"/>
              <a:cs typeface="Arial Black" panose="020B0A04020102020204"/>
            </a:endParaRPr>
          </a:p>
          <a:p>
            <a:pPr marL="60960" algn="ctr">
              <a:lnSpc>
                <a:spcPct val="100000"/>
              </a:lnSpc>
              <a:spcBef>
                <a:spcPts val="300"/>
              </a:spcBef>
            </a:pPr>
            <a:r>
              <a:rPr sz="1950" spc="-4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(Strictly</a:t>
            </a:r>
            <a:r>
              <a:rPr sz="1950" spc="-16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950" spc="-2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limited</a:t>
            </a:r>
            <a:r>
              <a:rPr sz="1950" spc="-15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95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to</a:t>
            </a:r>
            <a:r>
              <a:rPr sz="1950" spc="-15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950" spc="-2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aid</a:t>
            </a:r>
            <a:r>
              <a:rPr sz="1950" spc="-15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950" spc="-1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staff)</a:t>
            </a:r>
            <a:endParaRPr sz="1950">
              <a:latin typeface="Verdana" panose="020B0604030504040204"/>
              <a:cs typeface="Verdana" panose="020B0604030504040204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sz="1950" spc="-65" dirty="0">
                <a:solidFill>
                  <a:srgbClr val="041225"/>
                </a:solidFill>
                <a:latin typeface="Arial Black" panose="020B0A04020102020204"/>
                <a:cs typeface="Arial Black" panose="020B0A04020102020204"/>
              </a:rPr>
              <a:t>Kakumago</a:t>
            </a:r>
            <a:endParaRPr sz="1950">
              <a:latin typeface="Arial Black" panose="020B0A04020102020204"/>
              <a:cs typeface="Arial Black" panose="020B0A04020102020204"/>
            </a:endParaRPr>
          </a:p>
          <a:p>
            <a:pPr marR="53340" algn="ctr">
              <a:lnSpc>
                <a:spcPct val="100000"/>
              </a:lnSpc>
              <a:spcBef>
                <a:spcPts val="60"/>
              </a:spcBef>
            </a:pPr>
            <a:r>
              <a:rPr sz="2250" spc="6320" dirty="0">
                <a:solidFill>
                  <a:srgbClr val="041225"/>
                </a:solidFill>
                <a:latin typeface="Microsoft Sans Serif" panose="020B0604020202020204"/>
                <a:cs typeface="Microsoft Sans Serif" panose="020B0604020202020204"/>
              </a:rPr>
              <a:t>🟢</a:t>
            </a:r>
            <a:r>
              <a:rPr sz="2250" spc="-185" dirty="0">
                <a:solidFill>
                  <a:srgbClr val="041225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-120" dirty="0">
                <a:solidFill>
                  <a:srgbClr val="041225"/>
                </a:solidFill>
                <a:latin typeface="Arial Black" panose="020B0A04020102020204"/>
                <a:cs typeface="Arial Black" panose="020B0A04020102020204"/>
              </a:rPr>
              <a:t>High</a:t>
            </a:r>
            <a:r>
              <a:rPr sz="1950" spc="-175" dirty="0">
                <a:solidFill>
                  <a:srgbClr val="041225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950" spc="-10" dirty="0">
                <a:solidFill>
                  <a:srgbClr val="041225"/>
                </a:solidFill>
                <a:latin typeface="Arial Black" panose="020B0A04020102020204"/>
                <a:cs typeface="Arial Black" panose="020B0A04020102020204"/>
              </a:rPr>
              <a:t>Safety</a:t>
            </a:r>
            <a:endParaRPr sz="1950">
              <a:latin typeface="Arial Black" panose="020B0A04020102020204"/>
              <a:cs typeface="Arial Black" panose="020B0A04020102020204"/>
            </a:endParaRPr>
          </a:p>
          <a:p>
            <a:pPr marL="60960" algn="ctr">
              <a:lnSpc>
                <a:spcPct val="100000"/>
              </a:lnSpc>
              <a:spcBef>
                <a:spcPts val="300"/>
              </a:spcBef>
            </a:pPr>
            <a:r>
              <a:rPr sz="1950" spc="-5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(Vetted</a:t>
            </a:r>
            <a:r>
              <a:rPr sz="1950" spc="-15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950" spc="-5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drivers,</a:t>
            </a:r>
            <a:r>
              <a:rPr sz="1950" spc="-15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950" spc="-7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real-</a:t>
            </a:r>
            <a:r>
              <a:rPr sz="1950" spc="-3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time</a:t>
            </a:r>
            <a:r>
              <a:rPr sz="1950" spc="-15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950" spc="-1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tracking)</a:t>
            </a:r>
            <a:endParaRPr sz="1950">
              <a:latin typeface="Verdana" panose="020B0604030504040204"/>
              <a:cs typeface="Verdana" panose="020B0604030504040204"/>
            </a:endParaRPr>
          </a:p>
          <a:p>
            <a:pPr marR="53340" algn="ctr">
              <a:lnSpc>
                <a:spcPct val="100000"/>
              </a:lnSpc>
              <a:spcBef>
                <a:spcPts val="60"/>
              </a:spcBef>
            </a:pPr>
            <a:r>
              <a:rPr sz="2250" spc="6320" dirty="0">
                <a:solidFill>
                  <a:srgbClr val="041225"/>
                </a:solidFill>
                <a:latin typeface="Microsoft Sans Serif" panose="020B0604020202020204"/>
                <a:cs typeface="Microsoft Sans Serif" panose="020B0604020202020204"/>
              </a:rPr>
              <a:t>🟢</a:t>
            </a:r>
            <a:r>
              <a:rPr sz="2250" spc="-185" dirty="0">
                <a:solidFill>
                  <a:srgbClr val="041225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-120" dirty="0">
                <a:solidFill>
                  <a:srgbClr val="041225"/>
                </a:solidFill>
                <a:latin typeface="Arial Black" panose="020B0A04020102020204"/>
                <a:cs typeface="Arial Black" panose="020B0A04020102020204"/>
              </a:rPr>
              <a:t>High</a:t>
            </a:r>
            <a:r>
              <a:rPr sz="1950" spc="-175" dirty="0">
                <a:solidFill>
                  <a:srgbClr val="041225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950" spc="-10" dirty="0">
                <a:solidFill>
                  <a:srgbClr val="041225"/>
                </a:solidFill>
                <a:latin typeface="Arial Black" panose="020B0A04020102020204"/>
                <a:cs typeface="Arial Black" panose="020B0A04020102020204"/>
              </a:rPr>
              <a:t>Affordability</a:t>
            </a:r>
            <a:endParaRPr sz="1950">
              <a:latin typeface="Arial Black" panose="020B0A04020102020204"/>
              <a:cs typeface="Arial Black" panose="020B0A04020102020204"/>
            </a:endParaRPr>
          </a:p>
          <a:p>
            <a:pPr marL="60960" algn="ctr">
              <a:lnSpc>
                <a:spcPct val="100000"/>
              </a:lnSpc>
              <a:spcBef>
                <a:spcPts val="300"/>
              </a:spcBef>
            </a:pPr>
            <a:r>
              <a:rPr sz="1950" spc="-5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(Optimized</a:t>
            </a:r>
            <a:r>
              <a:rPr sz="1950" spc="-14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950" spc="-3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digital</a:t>
            </a:r>
            <a:r>
              <a:rPr sz="1950" spc="-13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950" spc="-1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booking)</a:t>
            </a:r>
            <a:endParaRPr sz="1950">
              <a:latin typeface="Verdana" panose="020B0604030504040204"/>
              <a:cs typeface="Verdana" panose="020B0604030504040204"/>
            </a:endParaRPr>
          </a:p>
          <a:p>
            <a:pPr marR="53975" algn="ctr">
              <a:lnSpc>
                <a:spcPct val="100000"/>
              </a:lnSpc>
              <a:spcBef>
                <a:spcPts val="60"/>
              </a:spcBef>
            </a:pPr>
            <a:r>
              <a:rPr sz="2250" spc="6320" dirty="0">
                <a:solidFill>
                  <a:srgbClr val="041225"/>
                </a:solidFill>
                <a:latin typeface="Microsoft Sans Serif" panose="020B0604020202020204"/>
                <a:cs typeface="Microsoft Sans Serif" panose="020B0604020202020204"/>
              </a:rPr>
              <a:t>🟢</a:t>
            </a:r>
            <a:r>
              <a:rPr sz="2250" spc="-195" dirty="0">
                <a:solidFill>
                  <a:srgbClr val="041225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-20" dirty="0">
                <a:solidFill>
                  <a:srgbClr val="041225"/>
                </a:solidFill>
                <a:latin typeface="Arial Black" panose="020B0A04020102020204"/>
                <a:cs typeface="Arial Black" panose="020B0A04020102020204"/>
              </a:rPr>
              <a:t>Open</a:t>
            </a:r>
            <a:endParaRPr sz="1950">
              <a:latin typeface="Arial Black" panose="020B0A04020102020204"/>
              <a:cs typeface="Arial Black" panose="020B0A04020102020204"/>
            </a:endParaRPr>
          </a:p>
          <a:p>
            <a:pPr marL="60960" algn="ctr">
              <a:lnSpc>
                <a:spcPct val="100000"/>
              </a:lnSpc>
              <a:spcBef>
                <a:spcPts val="300"/>
              </a:spcBef>
            </a:pPr>
            <a:r>
              <a:rPr sz="1950" spc="-4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(Built</a:t>
            </a:r>
            <a:r>
              <a:rPr sz="1950" spc="-17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95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for</a:t>
            </a:r>
            <a:r>
              <a:rPr sz="1950" spc="-17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950" spc="-1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950" spc="-17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950" spc="-3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entire</a:t>
            </a:r>
            <a:r>
              <a:rPr sz="1950" spc="-175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950" spc="-10" dirty="0">
                <a:solidFill>
                  <a:srgbClr val="041225"/>
                </a:solidFill>
                <a:latin typeface="Verdana" panose="020B0604030504040204"/>
                <a:cs typeface="Verdana" panose="020B0604030504040204"/>
              </a:rPr>
              <a:t>community)</a:t>
            </a:r>
            <a:endParaRPr sz="195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1142833" y="806450"/>
            <a:ext cx="9189085" cy="962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50" spc="-600" dirty="0">
                <a:solidFill>
                  <a:srgbClr val="162A49"/>
                </a:solidFill>
                <a:latin typeface="Arial MT"/>
                <a:cs typeface="Arial MT"/>
              </a:rPr>
              <a:t>OUR</a:t>
            </a:r>
            <a:r>
              <a:rPr sz="6150" spc="240" dirty="0">
                <a:solidFill>
                  <a:srgbClr val="162A49"/>
                </a:solidFill>
                <a:latin typeface="Arial MT"/>
                <a:cs typeface="Arial MT"/>
              </a:rPr>
              <a:t> </a:t>
            </a:r>
            <a:r>
              <a:rPr sz="6150" spc="-390" dirty="0">
                <a:solidFill>
                  <a:srgbClr val="1F1F1F"/>
                </a:solidFill>
                <a:latin typeface="Arial MT"/>
                <a:cs typeface="Arial MT"/>
              </a:rPr>
              <a:t>UHFAIR</a:t>
            </a:r>
            <a:r>
              <a:rPr sz="6150" spc="41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6150" spc="-415" dirty="0">
                <a:solidFill>
                  <a:srgbClr val="0F2A48"/>
                </a:solidFill>
                <a:latin typeface="Arial MT"/>
                <a:cs typeface="Arial MT"/>
              </a:rPr>
              <a:t>ADVANTAGE.</a:t>
            </a:r>
            <a:endParaRPr sz="615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325880" y="2071115"/>
            <a:ext cx="5554980" cy="267004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79591" y="2468879"/>
            <a:ext cx="955547" cy="66751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328647" y="2427731"/>
            <a:ext cx="2377440" cy="106527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348204" y="3895343"/>
            <a:ext cx="1536192" cy="40233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06056" y="4119371"/>
            <a:ext cx="4265676" cy="39776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69364" y="4873751"/>
            <a:ext cx="4736592" cy="195681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436339" y="6144767"/>
            <a:ext cx="448055" cy="443483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79092" y="7031735"/>
            <a:ext cx="1956816" cy="227228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814315" y="7164323"/>
            <a:ext cx="2976372" cy="193852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946903" y="8078723"/>
            <a:ext cx="978408" cy="22402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6459200" y="8636507"/>
            <a:ext cx="425196" cy="420623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4150" spc="-204" dirty="0">
                <a:solidFill>
                  <a:srgbClr val="181818"/>
                </a:solidFill>
              </a:rPr>
              <a:t>USS</a:t>
            </a:r>
            <a:r>
              <a:rPr sz="4150" spc="-204" dirty="0">
                <a:solidFill>
                  <a:srgbClr val="181818"/>
                </a:solidFill>
              </a:rPr>
              <a:t>D</a:t>
            </a:r>
            <a:r>
              <a:rPr sz="4150" spc="-409" dirty="0">
                <a:solidFill>
                  <a:srgbClr val="181818"/>
                </a:solidFill>
              </a:rPr>
              <a:t> </a:t>
            </a:r>
            <a:r>
              <a:rPr sz="4150" spc="-90" dirty="0"/>
              <a:t>INTEG</a:t>
            </a:r>
            <a:r>
              <a:rPr sz="6225" spc="-135" baseline="-1000" dirty="0"/>
              <a:t>R</a:t>
            </a:r>
            <a:r>
              <a:rPr sz="4150" spc="-90" dirty="0"/>
              <a:t>ATI</a:t>
            </a:r>
            <a:r>
              <a:rPr sz="6225" spc="-135" baseline="-1000" dirty="0"/>
              <a:t>O&gt;z</a:t>
            </a:r>
            <a:endParaRPr sz="6225" baseline="-1000"/>
          </a:p>
          <a:p>
            <a:pPr marL="334010" indent="-208280">
              <a:lnSpc>
                <a:spcPct val="100000"/>
              </a:lnSpc>
              <a:spcBef>
                <a:spcPts val="410"/>
              </a:spcBef>
              <a:buChar char="•"/>
              <a:tabLst>
                <a:tab pos="334010" algn="l"/>
              </a:tabLst>
            </a:pPr>
            <a:r>
              <a:rPr sz="2900" spc="-320" dirty="0">
                <a:solidFill>
                  <a:srgbClr val="000000"/>
                </a:solidFill>
              </a:rPr>
              <a:t>REA</a:t>
            </a:r>
            <a:r>
              <a:rPr sz="4350" spc="-480" baseline="-2000" dirty="0">
                <a:solidFill>
                  <a:srgbClr val="000000"/>
                </a:solidFill>
              </a:rPr>
              <a:t>C</a:t>
            </a:r>
            <a:r>
              <a:rPr sz="2900" spc="-320" dirty="0">
                <a:solidFill>
                  <a:srgbClr val="000000"/>
                </a:solidFill>
              </a:rPr>
              <a:t>HIN</a:t>
            </a:r>
            <a:r>
              <a:rPr sz="4350" spc="-480" baseline="-2000" dirty="0">
                <a:solidFill>
                  <a:srgbClr val="000000"/>
                </a:solidFill>
              </a:rPr>
              <a:t>G</a:t>
            </a:r>
            <a:r>
              <a:rPr sz="2900" spc="-320" dirty="0">
                <a:solidFill>
                  <a:srgbClr val="131313"/>
                </a:solidFill>
              </a:rPr>
              <a:t>T</a:t>
            </a:r>
            <a:r>
              <a:rPr sz="2900" spc="60" dirty="0">
                <a:solidFill>
                  <a:srgbClr val="131313"/>
                </a:solidFill>
              </a:rPr>
              <a:t>  </a:t>
            </a:r>
            <a:r>
              <a:rPr sz="2900" spc="-465" dirty="0">
                <a:solidFill>
                  <a:srgbClr val="131313"/>
                </a:solidFill>
              </a:rPr>
              <a:t>E</a:t>
            </a:r>
            <a:r>
              <a:rPr sz="2900" spc="-155" dirty="0">
                <a:solidFill>
                  <a:srgbClr val="131313"/>
                </a:solidFill>
              </a:rPr>
              <a:t> </a:t>
            </a:r>
            <a:r>
              <a:rPr sz="2900" spc="-80" dirty="0">
                <a:solidFill>
                  <a:srgbClr val="0A0A0A"/>
                </a:solidFill>
              </a:rPr>
              <a:t>uNBaNKEo</a:t>
            </a:r>
            <a:endParaRPr sz="2900"/>
          </a:p>
          <a:p>
            <a:pPr marL="331470" indent="-205105">
              <a:lnSpc>
                <a:spcPct val="100000"/>
              </a:lnSpc>
              <a:spcBef>
                <a:spcPts val="160"/>
              </a:spcBef>
              <a:buClr>
                <a:srgbClr val="000000"/>
              </a:buClr>
              <a:buChar char="•"/>
              <a:tabLst>
                <a:tab pos="331470" algn="l"/>
              </a:tabLst>
            </a:pPr>
            <a:r>
              <a:rPr sz="2750" spc="-254" dirty="0">
                <a:solidFill>
                  <a:srgbClr val="363636"/>
                </a:solidFill>
              </a:rPr>
              <a:t>INCLUSIVE:</a:t>
            </a:r>
            <a:r>
              <a:rPr sz="2750" spc="10" dirty="0">
                <a:solidFill>
                  <a:srgbClr val="363636"/>
                </a:solidFill>
              </a:rPr>
              <a:t> </a:t>
            </a:r>
            <a:r>
              <a:rPr sz="2750" spc="-215" dirty="0">
                <a:solidFill>
                  <a:srgbClr val="000000"/>
                </a:solidFill>
              </a:rPr>
              <a:t>NO</a:t>
            </a:r>
            <a:r>
              <a:rPr sz="2750" spc="-150" dirty="0">
                <a:solidFill>
                  <a:srgbClr val="000000"/>
                </a:solidFill>
              </a:rPr>
              <a:t> </a:t>
            </a:r>
            <a:r>
              <a:rPr sz="2750" spc="-280" dirty="0">
                <a:solidFill>
                  <a:srgbClr val="000000"/>
                </a:solidFill>
              </a:rPr>
              <a:t>INTERNET</a:t>
            </a:r>
            <a:r>
              <a:rPr sz="2750" spc="-5" dirty="0">
                <a:solidFill>
                  <a:srgbClr val="000000"/>
                </a:solidFill>
              </a:rPr>
              <a:t> </a:t>
            </a:r>
            <a:r>
              <a:rPr sz="2750" spc="-315" dirty="0">
                <a:solidFill>
                  <a:srgbClr val="000000"/>
                </a:solidFill>
              </a:rPr>
              <a:t>REQUIRED</a:t>
            </a:r>
            <a:r>
              <a:rPr sz="2750" spc="20" dirty="0">
                <a:solidFill>
                  <a:srgbClr val="000000"/>
                </a:solidFill>
              </a:rPr>
              <a:t> </a:t>
            </a:r>
            <a:r>
              <a:rPr sz="2750" spc="-375" dirty="0">
                <a:solidFill>
                  <a:srgbClr val="0E0E0E"/>
                </a:solidFill>
              </a:rPr>
              <a:t>FOR</a:t>
            </a:r>
            <a:r>
              <a:rPr sz="2750" spc="15" dirty="0">
                <a:solidFill>
                  <a:srgbClr val="0E0E0E"/>
                </a:solidFill>
              </a:rPr>
              <a:t> </a:t>
            </a:r>
            <a:r>
              <a:rPr sz="2750" spc="-385" dirty="0">
                <a:solidFill>
                  <a:srgbClr val="000000"/>
                </a:solidFill>
              </a:rPr>
              <a:t>BOOK1NG</a:t>
            </a:r>
            <a:endParaRPr sz="2750"/>
          </a:p>
          <a:p>
            <a:pPr>
              <a:lnSpc>
                <a:spcPct val="100000"/>
              </a:lnSpc>
              <a:buFont typeface="Arial MT"/>
              <a:buChar char="•"/>
            </a:pPr>
            <a:endParaRPr sz="2750"/>
          </a:p>
          <a:p>
            <a:pPr>
              <a:lnSpc>
                <a:spcPct val="100000"/>
              </a:lnSpc>
              <a:spcBef>
                <a:spcPts val="1875"/>
              </a:spcBef>
              <a:buFont typeface="Arial MT"/>
              <a:buChar char="•"/>
            </a:pPr>
            <a:endParaRPr sz="2750"/>
          </a:p>
          <a:p>
            <a:pPr marL="102235">
              <a:lnSpc>
                <a:spcPct val="100000"/>
              </a:lnSpc>
            </a:pPr>
            <a:r>
              <a:rPr sz="4250" spc="-330" dirty="0">
                <a:solidFill>
                  <a:srgbClr val="000000"/>
                </a:solidFill>
              </a:rPr>
              <a:t>HYPER-</a:t>
            </a:r>
            <a:r>
              <a:rPr sz="4250" spc="-340" dirty="0">
                <a:solidFill>
                  <a:srgbClr val="000000"/>
                </a:solidFill>
              </a:rPr>
              <a:t>LOCAL</a:t>
            </a:r>
            <a:r>
              <a:rPr sz="4250" spc="215" dirty="0">
                <a:solidFill>
                  <a:srgbClr val="000000"/>
                </a:solidFill>
              </a:rPr>
              <a:t> </a:t>
            </a:r>
            <a:r>
              <a:rPr sz="4250" spc="-445" dirty="0">
                <a:solidFill>
                  <a:srgbClr val="161616"/>
                </a:solidFill>
              </a:rPr>
              <a:t>TRUST</a:t>
            </a:r>
            <a:endParaRPr sz="4250"/>
          </a:p>
          <a:p>
            <a:pPr marL="609600" lvl="1" indent="-240030">
              <a:lnSpc>
                <a:spcPct val="100000"/>
              </a:lnSpc>
              <a:spcBef>
                <a:spcPts val="530"/>
              </a:spcBef>
              <a:buChar char="•"/>
              <a:tabLst>
                <a:tab pos="609600" algn="l"/>
              </a:tabLst>
            </a:pPr>
            <a:r>
              <a:rPr sz="2650" spc="-190" dirty="0">
                <a:latin typeface="Arial MT"/>
                <a:cs typeface="Arial MT"/>
              </a:rPr>
              <a:t>BOOSTING</a:t>
            </a:r>
            <a:r>
              <a:rPr sz="2650" spc="55" dirty="0">
                <a:latin typeface="Arial MT"/>
                <a:cs typeface="Arial MT"/>
              </a:rPr>
              <a:t> </a:t>
            </a:r>
            <a:r>
              <a:rPr sz="2650" spc="-114" dirty="0">
                <a:latin typeface="Arial MT"/>
                <a:cs typeface="Arial MT"/>
              </a:rPr>
              <a:t>BOBA</a:t>
            </a:r>
            <a:r>
              <a:rPr sz="2650" spc="-70" dirty="0">
                <a:latin typeface="Arial MT"/>
                <a:cs typeface="Arial MT"/>
              </a:rPr>
              <a:t> </a:t>
            </a:r>
            <a:r>
              <a:rPr sz="2650" spc="-145" dirty="0">
                <a:latin typeface="Arial MT"/>
                <a:cs typeface="Arial MT"/>
              </a:rPr>
              <a:t>CHAIRMEN</a:t>
            </a:r>
            <a:r>
              <a:rPr sz="2650" spc="15" dirty="0">
                <a:latin typeface="Arial MT"/>
                <a:cs typeface="Arial MT"/>
              </a:rPr>
              <a:t> </a:t>
            </a:r>
            <a:r>
              <a:rPr sz="2650" spc="-135" dirty="0">
                <a:latin typeface="Arial MT"/>
                <a:cs typeface="Arial MT"/>
              </a:rPr>
              <a:t>PARTNERSHIPS</a:t>
            </a:r>
            <a:endParaRPr sz="2650">
              <a:latin typeface="Arial MT"/>
              <a:cs typeface="Arial MT"/>
            </a:endParaRPr>
          </a:p>
          <a:p>
            <a:pPr marL="619125" lvl="1" indent="-249555">
              <a:lnSpc>
                <a:spcPct val="100000"/>
              </a:lnSpc>
              <a:spcBef>
                <a:spcPts val="135"/>
              </a:spcBef>
              <a:buChar char="•"/>
              <a:tabLst>
                <a:tab pos="619125" algn="l"/>
              </a:tabLst>
            </a:pPr>
            <a:r>
              <a:rPr sz="2650" spc="-170" dirty="0">
                <a:latin typeface="Arial MT"/>
                <a:cs typeface="Arial MT"/>
              </a:rPr>
              <a:t>SECURE,</a:t>
            </a:r>
            <a:r>
              <a:rPr sz="2650" spc="40" dirty="0">
                <a:latin typeface="Arial MT"/>
                <a:cs typeface="Arial MT"/>
              </a:rPr>
              <a:t> </a:t>
            </a:r>
            <a:r>
              <a:rPr sz="2650" spc="-80" dirty="0">
                <a:latin typeface="Arial MT"/>
                <a:cs typeface="Arial MT"/>
              </a:rPr>
              <a:t>COMMUHITV-</a:t>
            </a:r>
            <a:r>
              <a:rPr sz="2650" spc="-75" dirty="0">
                <a:latin typeface="Arial MT"/>
                <a:cs typeface="Arial MT"/>
              </a:rPr>
              <a:t>BACKED</a:t>
            </a:r>
            <a:r>
              <a:rPr sz="2650" spc="-65" dirty="0">
                <a:latin typeface="Arial MT"/>
                <a:cs typeface="Arial MT"/>
              </a:rPr>
              <a:t> </a:t>
            </a:r>
            <a:r>
              <a:rPr sz="2650" spc="-240" dirty="0">
                <a:latin typeface="Arial MT"/>
                <a:cs typeface="Arial MT"/>
              </a:rPr>
              <a:t>SAFETV</a:t>
            </a:r>
            <a:r>
              <a:rPr sz="2650" spc="130" dirty="0">
                <a:latin typeface="Arial MT"/>
                <a:cs typeface="Arial MT"/>
              </a:rPr>
              <a:t> </a:t>
            </a:r>
            <a:r>
              <a:rPr sz="2650" spc="-270" dirty="0">
                <a:latin typeface="Arial MT"/>
                <a:cs typeface="Arial MT"/>
              </a:rPr>
              <a:t>VALJDATJON</a:t>
            </a:r>
            <a:endParaRPr sz="265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2690"/>
              </a:spcBef>
              <a:buFont typeface="Arial MT"/>
              <a:buChar char="•"/>
            </a:pPr>
            <a:endParaRPr sz="2650"/>
          </a:p>
          <a:p>
            <a:pPr marL="993775">
              <a:lnSpc>
                <a:spcPct val="100000"/>
              </a:lnSpc>
            </a:pPr>
            <a:r>
              <a:rPr sz="4100" spc="-50" dirty="0">
                <a:solidFill>
                  <a:srgbClr val="050505"/>
                </a:solidFill>
              </a:rPr>
              <a:t>L</a:t>
            </a:r>
            <a:r>
              <a:rPr sz="6150" spc="-75" baseline="-2000" dirty="0">
                <a:solidFill>
                  <a:srgbClr val="050505"/>
                </a:solidFill>
              </a:rPr>
              <a:t>OW</a:t>
            </a:r>
            <a:r>
              <a:rPr sz="4100" spc="-50" dirty="0">
                <a:solidFill>
                  <a:srgbClr val="050505"/>
                </a:solidFill>
              </a:rPr>
              <a:t>-</a:t>
            </a:r>
            <a:r>
              <a:rPr sz="4100" spc="-40" dirty="0">
                <a:solidFill>
                  <a:srgbClr val="050505"/>
                </a:solidFill>
              </a:rPr>
              <a:t>DATA</a:t>
            </a:r>
            <a:r>
              <a:rPr sz="4100" spc="-595" dirty="0">
                <a:solidFill>
                  <a:srgbClr val="050505"/>
                </a:solidFill>
              </a:rPr>
              <a:t> </a:t>
            </a:r>
            <a:r>
              <a:rPr sz="4100" spc="-20" dirty="0">
                <a:solidFill>
                  <a:srgbClr val="051331"/>
                </a:solidFill>
              </a:rPr>
              <a:t>TE</a:t>
            </a:r>
            <a:r>
              <a:rPr sz="6150" spc="-30" baseline="-1000" dirty="0">
                <a:solidFill>
                  <a:srgbClr val="051331"/>
                </a:solidFill>
              </a:rPr>
              <a:t>CH</a:t>
            </a:r>
            <a:endParaRPr sz="6150" baseline="-1000"/>
          </a:p>
          <a:p>
            <a:pPr marL="1304290" lvl="2" indent="-220980">
              <a:lnSpc>
                <a:spcPts val="2885"/>
              </a:lnSpc>
              <a:spcBef>
                <a:spcPts val="625"/>
              </a:spcBef>
              <a:buChar char="•"/>
              <a:tabLst>
                <a:tab pos="1304290" algn="l"/>
              </a:tabLst>
            </a:pPr>
            <a:r>
              <a:rPr sz="2550" spc="-60" dirty="0">
                <a:latin typeface="Arial MT"/>
                <a:cs typeface="Arial MT"/>
              </a:rPr>
              <a:t>OPTIMIZED</a:t>
            </a:r>
            <a:r>
              <a:rPr sz="2550" spc="-120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APP</a:t>
            </a:r>
            <a:r>
              <a:rPr sz="2550" spc="-35" dirty="0">
                <a:latin typeface="Arial MT"/>
                <a:cs typeface="Arial MT"/>
              </a:rPr>
              <a:t> </a:t>
            </a:r>
            <a:r>
              <a:rPr sz="2550" spc="-190" dirty="0">
                <a:latin typeface="Arial MT"/>
                <a:cs typeface="Arial MT"/>
              </a:rPr>
              <a:t>ARCHJTECTURE</a:t>
            </a:r>
            <a:r>
              <a:rPr sz="2550" spc="105" dirty="0">
                <a:latin typeface="Arial MT"/>
                <a:cs typeface="Arial MT"/>
              </a:rPr>
              <a:t> </a:t>
            </a:r>
            <a:r>
              <a:rPr sz="2550" spc="-210" dirty="0">
                <a:latin typeface="Arial MT"/>
                <a:cs typeface="Arial MT"/>
              </a:rPr>
              <a:t>FOR</a:t>
            </a:r>
            <a:r>
              <a:rPr sz="2550" spc="-5" dirty="0">
                <a:latin typeface="Arial MT"/>
                <a:cs typeface="Arial MT"/>
              </a:rPr>
              <a:t> </a:t>
            </a:r>
            <a:r>
              <a:rPr sz="2550" spc="-114" dirty="0">
                <a:latin typeface="Arial MT"/>
                <a:cs typeface="Arial MT"/>
              </a:rPr>
              <a:t>INTERI*JITTENT</a:t>
            </a:r>
            <a:endParaRPr sz="2550">
              <a:latin typeface="Arial MT"/>
              <a:cs typeface="Arial MT"/>
            </a:endParaRPr>
          </a:p>
          <a:p>
            <a:pPr marL="1303655">
              <a:lnSpc>
                <a:spcPts val="2925"/>
              </a:lnSpc>
            </a:pPr>
            <a:r>
              <a:rPr sz="2650" spc="-110" dirty="0">
                <a:solidFill>
                  <a:srgbClr val="000000"/>
                </a:solidFill>
              </a:rPr>
              <a:t>CONNECTIVITV</a:t>
            </a:r>
            <a:endParaRPr sz="2650"/>
          </a:p>
          <a:p>
            <a:pPr marL="1182370" indent="-210185">
              <a:lnSpc>
                <a:spcPts val="3280"/>
              </a:lnSpc>
              <a:buChar char="•"/>
              <a:tabLst>
                <a:tab pos="1182370" algn="l"/>
              </a:tabLst>
            </a:pPr>
            <a:r>
              <a:rPr sz="2800" spc="-325" dirty="0">
                <a:solidFill>
                  <a:srgbClr val="000000"/>
                </a:solidFill>
              </a:rPr>
              <a:t>DRIVERS</a:t>
            </a:r>
            <a:r>
              <a:rPr sz="2800" spc="140" dirty="0">
                <a:solidFill>
                  <a:srgbClr val="000000"/>
                </a:solidFill>
              </a:rPr>
              <a:t> </a:t>
            </a:r>
            <a:r>
              <a:rPr sz="2800" spc="-445" dirty="0">
                <a:solidFill>
                  <a:srgbClr val="000000"/>
                </a:solidFill>
              </a:rPr>
              <a:t>STAY</a:t>
            </a:r>
            <a:r>
              <a:rPr sz="2800" spc="150" dirty="0">
                <a:solidFill>
                  <a:srgbClr val="000000"/>
                </a:solidFill>
              </a:rPr>
              <a:t> </a:t>
            </a:r>
            <a:r>
              <a:rPr sz="2800" spc="-300" dirty="0">
                <a:solidFill>
                  <a:srgbClr val="000000"/>
                </a:solidFill>
              </a:rPr>
              <a:t>ONLINE</a:t>
            </a:r>
            <a:r>
              <a:rPr sz="2800" spc="125" dirty="0">
                <a:solidFill>
                  <a:srgbClr val="000000"/>
                </a:solidFill>
              </a:rPr>
              <a:t> </a:t>
            </a:r>
            <a:r>
              <a:rPr sz="2800" spc="-340" dirty="0">
                <a:solidFill>
                  <a:srgbClr val="000000"/>
                </a:solidFill>
              </a:rPr>
              <a:t>ON</a:t>
            </a:r>
            <a:r>
              <a:rPr sz="2800" spc="-114" dirty="0">
                <a:solidFill>
                  <a:srgbClr val="000000"/>
                </a:solidFill>
              </a:rPr>
              <a:t> </a:t>
            </a:r>
            <a:r>
              <a:rPr sz="2800" spc="-315" dirty="0">
                <a:solidFill>
                  <a:srgbClr val="000000"/>
                </a:solidFill>
              </a:rPr>
              <a:t>SLOW</a:t>
            </a:r>
            <a:r>
              <a:rPr sz="2800" spc="20" dirty="0">
                <a:solidFill>
                  <a:srgbClr val="000000"/>
                </a:solidFill>
              </a:rPr>
              <a:t> </a:t>
            </a:r>
            <a:r>
              <a:rPr sz="2800" spc="-320" dirty="0">
                <a:solidFill>
                  <a:srgbClr val="000000"/>
                </a:solidFill>
              </a:rPr>
              <a:t>NETWORKS.</a:t>
            </a:r>
            <a:endParaRPr sz="2800"/>
          </a:p>
        </p:txBody>
      </p:sp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6294608" y="9646919"/>
            <a:ext cx="1335023" cy="2560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object 1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239011" y="932687"/>
            <a:ext cx="566927" cy="50291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3664" y="896111"/>
            <a:ext cx="1197864" cy="54864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70932" y="932687"/>
            <a:ext cx="566927" cy="502919"/>
          </a:xfrm>
          <a:prstGeom prst="rect">
            <a:avLst/>
          </a:prstGeom>
        </p:spPr>
      </p:pic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xfrm>
            <a:off x="3092502" y="652526"/>
            <a:ext cx="2153285" cy="916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850" spc="-430" dirty="0">
                <a:solidFill>
                  <a:srgbClr val="0C3469"/>
                </a:solidFill>
              </a:rPr>
              <a:t>ENT</a:t>
            </a:r>
            <a:r>
              <a:rPr sz="8775" spc="-644" baseline="-1000" dirty="0">
                <a:solidFill>
                  <a:srgbClr val="0C3469"/>
                </a:solidFill>
              </a:rPr>
              <a:t>U</a:t>
            </a:r>
            <a:endParaRPr sz="8775" baseline="-1000"/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21323" y="909827"/>
            <a:ext cx="480060" cy="52578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66559" y="932687"/>
            <a:ext cx="457200" cy="5029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29283" y="3383279"/>
            <a:ext cx="4311396" cy="2523744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294593" y="2259815"/>
            <a:ext cx="4398645" cy="159258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585470">
              <a:lnSpc>
                <a:spcPct val="100000"/>
              </a:lnSpc>
              <a:spcBef>
                <a:spcPts val="315"/>
              </a:spcBef>
            </a:pPr>
            <a:r>
              <a:rPr sz="2300" spc="-150" dirty="0">
                <a:latin typeface="Arial MT"/>
                <a:cs typeface="Arial MT"/>
              </a:rPr>
              <a:t>5P</a:t>
            </a:r>
            <a:r>
              <a:rPr sz="2300" spc="-145" dirty="0">
                <a:latin typeface="Arial MT"/>
                <a:cs typeface="Arial MT"/>
              </a:rPr>
              <a:t> </a:t>
            </a:r>
            <a:r>
              <a:rPr sz="2300" spc="-280" dirty="0">
                <a:latin typeface="Arial MT"/>
                <a:cs typeface="Arial MT"/>
              </a:rPr>
              <a:t>PRlVčR5</a:t>
            </a:r>
            <a:r>
              <a:rPr sz="2300" spc="120" dirty="0">
                <a:latin typeface="Arial MT"/>
                <a:cs typeface="Arial MT"/>
              </a:rPr>
              <a:t> </a:t>
            </a:r>
            <a:r>
              <a:rPr sz="2300" spc="-100" dirty="0">
                <a:latin typeface="Arial MT"/>
                <a:cs typeface="Arial MT"/>
              </a:rPr>
              <a:t>ONBOARDED</a:t>
            </a:r>
            <a:endParaRPr sz="2300">
              <a:latin typeface="Arial MT"/>
              <a:cs typeface="Arial MT"/>
            </a:endParaRPr>
          </a:p>
          <a:p>
            <a:pPr marL="471805">
              <a:lnSpc>
                <a:spcPts val="1755"/>
              </a:lnSpc>
              <a:spcBef>
                <a:spcPts val="170"/>
              </a:spcBef>
            </a:pPr>
            <a:r>
              <a:rPr sz="1750" spc="-160" dirty="0">
                <a:solidFill>
                  <a:srgbClr val="131313"/>
                </a:solidFill>
                <a:latin typeface="Arial MT"/>
                <a:cs typeface="Arial MT"/>
              </a:rPr>
              <a:t>MOL/S</a:t>
            </a:r>
            <a:r>
              <a:rPr sz="1750" spc="1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50" spc="-155" dirty="0">
                <a:solidFill>
                  <a:srgbClr val="1A1A1A"/>
                </a:solidFill>
                <a:latin typeface="Arial MT"/>
                <a:cs typeface="Arial MT"/>
              </a:rPr>
              <a:t>SICMED</a:t>
            </a:r>
            <a:r>
              <a:rPr sz="1750" spc="4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latin typeface="Arial MT"/>
                <a:cs typeface="Arial MT"/>
              </a:rPr>
              <a:t>WITH</a:t>
            </a:r>
            <a:r>
              <a:rPr sz="1750" spc="20" dirty="0">
                <a:latin typeface="Arial MT"/>
                <a:cs typeface="Arial MT"/>
              </a:rPr>
              <a:t> </a:t>
            </a:r>
            <a:r>
              <a:rPr sz="1750" spc="-125" dirty="0">
                <a:latin typeface="Arial MT"/>
                <a:cs typeface="Arial MT"/>
              </a:rPr>
              <a:t>LDCAL</a:t>
            </a:r>
            <a:r>
              <a:rPr sz="1750" spc="-65" dirty="0">
                <a:latin typeface="Arial MT"/>
                <a:cs typeface="Arial MT"/>
              </a:rPr>
              <a:t> </a:t>
            </a:r>
            <a:r>
              <a:rPr sz="1750" spc="-10" dirty="0">
                <a:latin typeface="Arial MT"/>
                <a:cs typeface="Arial MT"/>
              </a:rPr>
              <a:t>UNIONS</a:t>
            </a:r>
            <a:endParaRPr sz="1750">
              <a:latin typeface="Arial MT"/>
              <a:cs typeface="Arial MT"/>
            </a:endParaRPr>
          </a:p>
          <a:p>
            <a:pPr marL="175260" indent="-162560">
              <a:lnSpc>
                <a:spcPts val="2955"/>
              </a:lnSpc>
              <a:buClr>
                <a:srgbClr val="448E8E"/>
              </a:buClr>
              <a:buChar char="•"/>
              <a:tabLst>
                <a:tab pos="175260" algn="l"/>
              </a:tabLst>
            </a:pPr>
            <a:r>
              <a:rPr sz="2750" spc="-575" dirty="0">
                <a:latin typeface="Arial MT"/>
                <a:cs typeface="Arial MT"/>
              </a:rPr>
              <a:t>FOU•DATioHAt</a:t>
            </a:r>
            <a:r>
              <a:rPr sz="2750" spc="175" dirty="0">
                <a:latin typeface="Arial MT"/>
                <a:cs typeface="Arial MT"/>
              </a:rPr>
              <a:t> </a:t>
            </a:r>
            <a:r>
              <a:rPr sz="2750" spc="-555" dirty="0">
                <a:latin typeface="Arial MT"/>
                <a:cs typeface="Arial MT"/>
              </a:rPr>
              <a:t>PAPruEeSHiPssEcuesD</a:t>
            </a:r>
            <a:endParaRPr sz="2750">
              <a:latin typeface="Arial MT"/>
              <a:cs typeface="Arial MT"/>
            </a:endParaRPr>
          </a:p>
          <a:p>
            <a:pPr marL="2566035">
              <a:lnSpc>
                <a:spcPct val="100000"/>
              </a:lnSpc>
              <a:spcBef>
                <a:spcPts val="1300"/>
              </a:spcBef>
            </a:pPr>
            <a:r>
              <a:rPr sz="2650" spc="-395" dirty="0">
                <a:solidFill>
                  <a:srgbClr val="7E7E7E"/>
                </a:solidFill>
                <a:latin typeface="Arial MT"/>
                <a:cs typeface="Arial MT"/>
              </a:rPr>
              <a:t>'</a:t>
            </a:r>
            <a:r>
              <a:rPr sz="2650" spc="60" dirty="0">
                <a:solidFill>
                  <a:srgbClr val="7E7E7E"/>
                </a:solidFill>
                <a:latin typeface="Arial MT"/>
                <a:cs typeface="Arial MT"/>
              </a:rPr>
              <a:t>  </a:t>
            </a:r>
            <a:r>
              <a:rPr sz="2650" spc="-25" dirty="0">
                <a:latin typeface="Arial MT"/>
                <a:cs typeface="Arial MT"/>
              </a:rPr>
              <a:t>uou</a:t>
            </a:r>
            <a:endParaRPr sz="2650"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74152" y="3337559"/>
            <a:ext cx="3890772" cy="1673351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7266737" y="666241"/>
            <a:ext cx="4297680" cy="2686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850" spc="-740" dirty="0">
                <a:solidFill>
                  <a:srgbClr val="01315D"/>
                </a:solidFill>
                <a:latin typeface="Arial Black" panose="020B0A04020102020204"/>
                <a:cs typeface="Arial Black" panose="020B0A04020102020204"/>
              </a:rPr>
              <a:t>EXT</a:t>
            </a:r>
            <a:r>
              <a:rPr sz="5850" spc="-265" dirty="0">
                <a:solidFill>
                  <a:srgbClr val="01315D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5850" spc="-395" dirty="0">
                <a:solidFill>
                  <a:srgbClr val="11386B"/>
                </a:solidFill>
                <a:latin typeface="Arial Black" panose="020B0A04020102020204"/>
                <a:cs typeface="Arial Black" panose="020B0A04020102020204"/>
              </a:rPr>
              <a:t>S</a:t>
            </a:r>
            <a:r>
              <a:rPr sz="5850" spc="-395" dirty="0">
                <a:solidFill>
                  <a:srgbClr val="11386B"/>
                </a:solidFill>
                <a:latin typeface="Arial Black" panose="020B0A04020102020204"/>
                <a:cs typeface="Arial Black" panose="020B0A04020102020204"/>
              </a:rPr>
              <a:t>TEP</a:t>
            </a:r>
            <a:r>
              <a:rPr sz="5850" spc="-395" dirty="0">
                <a:solidFill>
                  <a:srgbClr val="11386B"/>
                </a:solidFill>
                <a:latin typeface="Arial Black" panose="020B0A04020102020204"/>
                <a:cs typeface="Arial Black" panose="020B0A04020102020204"/>
              </a:rPr>
              <a:t>S.</a:t>
            </a:r>
            <a:endParaRPr sz="5850">
              <a:latin typeface="Arial Black" panose="020B0A04020102020204"/>
              <a:cs typeface="Arial Black" panose="020B0A04020102020204"/>
            </a:endParaRPr>
          </a:p>
          <a:p>
            <a:pPr marL="434975" marR="539115" indent="177165">
              <a:lnSpc>
                <a:spcPts val="2160"/>
              </a:lnSpc>
              <a:spcBef>
                <a:spcPts val="4660"/>
              </a:spcBef>
            </a:pPr>
            <a:r>
              <a:rPr sz="3150" spc="-60" baseline="1000" dirty="0">
                <a:latin typeface="Arial MT"/>
                <a:cs typeface="Arial MT"/>
              </a:rPr>
              <a:t>EXPAND</a:t>
            </a:r>
            <a:r>
              <a:rPr sz="3150" spc="-150" baseline="1000" dirty="0">
                <a:latin typeface="Arial MT"/>
                <a:cs typeface="Arial MT"/>
              </a:rPr>
              <a:t> </a:t>
            </a:r>
            <a:r>
              <a:rPr sz="3150" spc="-97" baseline="1000" dirty="0">
                <a:latin typeface="Arial MT"/>
                <a:cs typeface="Arial MT"/>
              </a:rPr>
              <a:t>TO</a:t>
            </a:r>
            <a:r>
              <a:rPr sz="3150" spc="-150" baseline="1000" dirty="0">
                <a:latin typeface="Arial MT"/>
                <a:cs typeface="Arial MT"/>
              </a:rPr>
              <a:t> </a:t>
            </a:r>
            <a:r>
              <a:rPr sz="3150" spc="-15" baseline="3000" dirty="0">
                <a:latin typeface="Arial MT"/>
                <a:cs typeface="Arial MT"/>
              </a:rPr>
              <a:t>KAL</a:t>
            </a:r>
            <a:r>
              <a:rPr sz="2100" spc="-10" dirty="0">
                <a:latin typeface="Arial MT"/>
                <a:cs typeface="Arial MT"/>
              </a:rPr>
              <a:t>OB</a:t>
            </a:r>
            <a:r>
              <a:rPr sz="3150" spc="-15" baseline="3000" dirty="0">
                <a:latin typeface="Arial MT"/>
                <a:cs typeface="Arial MT"/>
              </a:rPr>
              <a:t>EYEI </a:t>
            </a:r>
            <a:r>
              <a:rPr sz="2100" spc="-30" dirty="0">
                <a:latin typeface="Arial MT"/>
                <a:cs typeface="Arial MT"/>
              </a:rPr>
              <a:t>INTE6DATED</a:t>
            </a:r>
            <a:r>
              <a:rPr sz="2100" spc="-50" dirty="0">
                <a:latin typeface="Arial MT"/>
                <a:cs typeface="Arial MT"/>
              </a:rPr>
              <a:t> </a:t>
            </a:r>
            <a:r>
              <a:rPr sz="2100" spc="-110" dirty="0">
                <a:latin typeface="Arial MT"/>
                <a:cs typeface="Arial MT"/>
              </a:rPr>
              <a:t>SETTLE¥IENT</a:t>
            </a:r>
            <a:endParaRPr sz="2100">
              <a:latin typeface="Arial MT"/>
              <a:cs typeface="Arial MT"/>
            </a:endParaRPr>
          </a:p>
          <a:p>
            <a:pPr marL="92710" algn="ctr">
              <a:lnSpc>
                <a:spcPts val="1950"/>
              </a:lnSpc>
              <a:spcBef>
                <a:spcPts val="30"/>
              </a:spcBef>
            </a:pPr>
            <a:r>
              <a:rPr sz="1950" spc="-325" dirty="0">
                <a:latin typeface="Arial MT"/>
                <a:cs typeface="Arial MT"/>
              </a:rPr>
              <a:t>SCALE</a:t>
            </a:r>
            <a:r>
              <a:rPr sz="1950" spc="-70" dirty="0">
                <a:latin typeface="Arial MT"/>
                <a:cs typeface="Arial MT"/>
              </a:rPr>
              <a:t> </a:t>
            </a:r>
            <a:r>
              <a:rPr sz="1950" spc="-275" dirty="0">
                <a:latin typeface="Arial MT"/>
                <a:cs typeface="Arial MT"/>
              </a:rPr>
              <a:t>OPERATIOHS</a:t>
            </a:r>
            <a:r>
              <a:rPr sz="1950" spc="90" dirty="0">
                <a:latin typeface="Arial MT"/>
                <a:cs typeface="Arial MT"/>
              </a:rPr>
              <a:t> </a:t>
            </a:r>
            <a:r>
              <a:rPr sz="1950" spc="-300" dirty="0">
                <a:latin typeface="Arial MT"/>
                <a:cs typeface="Arial MT"/>
              </a:rPr>
              <a:t>TO</a:t>
            </a:r>
            <a:r>
              <a:rPr sz="1950" spc="-155" dirty="0">
                <a:latin typeface="Arial MT"/>
                <a:cs typeface="Arial MT"/>
              </a:rPr>
              <a:t> </a:t>
            </a:r>
            <a:r>
              <a:rPr sz="1950" spc="-265" dirty="0">
                <a:latin typeface="Arial MT"/>
                <a:cs typeface="Arial MT"/>
              </a:rPr>
              <a:t>NEW</a:t>
            </a:r>
            <a:r>
              <a:rPr sz="1950" spc="-70" dirty="0">
                <a:latin typeface="Arial MT"/>
                <a:cs typeface="Arial MT"/>
              </a:rPr>
              <a:t> </a:t>
            </a:r>
            <a:r>
              <a:rPr sz="1950" spc="-300" dirty="0">
                <a:latin typeface="Arial MT"/>
                <a:cs typeface="Arial MT"/>
              </a:rPr>
              <a:t>MARKETS</a:t>
            </a:r>
            <a:endParaRPr sz="1950">
              <a:latin typeface="Arial MT"/>
              <a:cs typeface="Arial MT"/>
            </a:endParaRPr>
          </a:p>
          <a:p>
            <a:pPr marL="92710" algn="ctr">
              <a:lnSpc>
                <a:spcPts val="2970"/>
              </a:lnSpc>
            </a:pPr>
            <a:r>
              <a:rPr sz="2800" spc="-670" dirty="0">
                <a:latin typeface="Arial MT"/>
                <a:cs typeface="Arial MT"/>
              </a:rPr>
              <a:t>scRvE</a:t>
            </a:r>
            <a:r>
              <a:rPr sz="2800" spc="-125" dirty="0">
                <a:latin typeface="Arial MT"/>
                <a:cs typeface="Arial MT"/>
              </a:rPr>
              <a:t> </a:t>
            </a:r>
            <a:r>
              <a:rPr sz="2800" spc="-525" dirty="0">
                <a:latin typeface="Arial MT"/>
                <a:cs typeface="Arial MT"/>
              </a:rPr>
              <a:t>uoRc</a:t>
            </a:r>
            <a:r>
              <a:rPr sz="2800" spc="-204" dirty="0">
                <a:latin typeface="Arial MT"/>
                <a:cs typeface="Arial MT"/>
              </a:rPr>
              <a:t> </a:t>
            </a:r>
            <a:r>
              <a:rPr sz="2800" spc="-445" dirty="0">
                <a:latin typeface="Arial MT"/>
                <a:cs typeface="Arial MT"/>
              </a:rPr>
              <a:t>couMu</a:t>
            </a:r>
            <a:r>
              <a:rPr sz="2800" spc="340" dirty="0">
                <a:latin typeface="Arial MT"/>
                <a:cs typeface="Arial MT"/>
              </a:rPr>
              <a:t> </a:t>
            </a:r>
            <a:r>
              <a:rPr sz="2800" spc="-590" dirty="0">
                <a:latin typeface="Arial MT"/>
                <a:cs typeface="Arial MT"/>
              </a:rPr>
              <a:t>IT</a:t>
            </a:r>
            <a:r>
              <a:rPr sz="2800" spc="-180" dirty="0">
                <a:latin typeface="Arial MT"/>
                <a:cs typeface="Arial MT"/>
              </a:rPr>
              <a:t> </a:t>
            </a:r>
            <a:r>
              <a:rPr sz="2800" spc="-730" dirty="0">
                <a:latin typeface="Arial MT"/>
                <a:cs typeface="Arial MT"/>
              </a:rPr>
              <a:t>Es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376147" y="2093467"/>
            <a:ext cx="3764279" cy="126111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800735" marR="5080" indent="-623570">
              <a:lnSpc>
                <a:spcPts val="2230"/>
              </a:lnSpc>
              <a:spcBef>
                <a:spcPts val="415"/>
              </a:spcBef>
            </a:pPr>
            <a:r>
              <a:rPr sz="2100" spc="-65" dirty="0">
                <a:latin typeface="Arial MT"/>
                <a:cs typeface="Arial MT"/>
              </a:rPr>
              <a:t>INTROD\JEE</a:t>
            </a:r>
            <a:r>
              <a:rPr sz="2100" spc="65" dirty="0">
                <a:latin typeface="Arial MT"/>
                <a:cs typeface="Arial MT"/>
              </a:rPr>
              <a:t> </a:t>
            </a:r>
            <a:r>
              <a:rPr sz="2100" spc="-45" dirty="0">
                <a:latin typeface="Arial MT"/>
                <a:cs typeface="Arial MT"/>
              </a:rPr>
              <a:t>LOKAL</a:t>
            </a:r>
            <a:r>
              <a:rPr sz="2100" spc="-100" dirty="0">
                <a:latin typeface="Arial MT"/>
                <a:cs typeface="Arial MT"/>
              </a:rPr>
              <a:t> </a:t>
            </a:r>
            <a:r>
              <a:rPr sz="2100" spc="-35" dirty="0">
                <a:latin typeface="Arial MT"/>
                <a:cs typeface="Arial MT"/>
              </a:rPr>
              <a:t>MARKET </a:t>
            </a:r>
            <a:r>
              <a:rPr sz="2100" dirty="0">
                <a:solidFill>
                  <a:srgbClr val="080808"/>
                </a:solidFill>
                <a:latin typeface="Arial MT"/>
                <a:cs typeface="Arial MT"/>
              </a:rPr>
              <a:t>GO6DS</a:t>
            </a:r>
            <a:r>
              <a:rPr sz="2100" spc="-80" dirty="0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DELIVERY</a:t>
            </a:r>
            <a:endParaRPr sz="2100">
              <a:latin typeface="Arial MT"/>
              <a:cs typeface="Arial MT"/>
            </a:endParaRPr>
          </a:p>
          <a:p>
            <a:pPr marL="197485">
              <a:lnSpc>
                <a:spcPts val="1970"/>
              </a:lnSpc>
            </a:pPr>
            <a:r>
              <a:rPr sz="2200" spc="-400" dirty="0">
                <a:solidFill>
                  <a:srgbClr val="0A0A0A"/>
                </a:solidFill>
                <a:latin typeface="Arial MT"/>
                <a:cs typeface="Arial MT"/>
              </a:rPr>
              <a:t>tJNLDCK</a:t>
            </a:r>
            <a:r>
              <a:rPr sz="2200" spc="-65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2200" spc="-200" dirty="0">
                <a:latin typeface="Arial MT"/>
                <a:cs typeface="Arial MT"/>
              </a:rPr>
              <a:t>ncW</a:t>
            </a:r>
            <a:r>
              <a:rPr sz="2200" spc="-140" dirty="0">
                <a:latin typeface="Arial MT"/>
                <a:cs typeface="Arial MT"/>
              </a:rPr>
              <a:t> </a:t>
            </a:r>
            <a:r>
              <a:rPr sz="2200" spc="-390" dirty="0">
                <a:latin typeface="Arial MT"/>
                <a:cs typeface="Arial MT"/>
              </a:rPr>
              <a:t>FIEvENuE</a:t>
            </a:r>
            <a:r>
              <a:rPr sz="2200" spc="225" dirty="0">
                <a:latin typeface="Arial MT"/>
                <a:cs typeface="Arial MT"/>
              </a:rPr>
              <a:t> </a:t>
            </a:r>
            <a:r>
              <a:rPr sz="3300" spc="-52" baseline="-3000" dirty="0">
                <a:solidFill>
                  <a:srgbClr val="131313"/>
                </a:solidFill>
                <a:latin typeface="Arial MT"/>
                <a:cs typeface="Arial MT"/>
              </a:rPr>
              <a:t>s</a:t>
            </a:r>
            <a:r>
              <a:rPr sz="3300" spc="-52" baseline="1000" dirty="0">
                <a:solidFill>
                  <a:srgbClr val="131313"/>
                </a:solidFill>
                <a:latin typeface="Arial MT"/>
                <a:cs typeface="Arial MT"/>
              </a:rPr>
              <a:t>Tecaxs</a:t>
            </a:r>
            <a:endParaRPr sz="3300" baseline="1000">
              <a:latin typeface="Arial MT"/>
              <a:cs typeface="Arial MT"/>
            </a:endParaRPr>
          </a:p>
          <a:p>
            <a:pPr marL="12700">
              <a:lnSpc>
                <a:spcPts val="2980"/>
              </a:lnSpc>
              <a:tabLst>
                <a:tab pos="791210" algn="l"/>
                <a:tab pos="2948940" algn="l"/>
              </a:tabLst>
            </a:pPr>
            <a:r>
              <a:rPr sz="2850" spc="-225" dirty="0">
                <a:solidFill>
                  <a:srgbClr val="A86750"/>
                </a:solidFill>
                <a:latin typeface="Arial MT"/>
                <a:cs typeface="Arial MT"/>
              </a:rPr>
              <a:t>›</a:t>
            </a:r>
            <a:r>
              <a:rPr sz="2850" spc="-260" dirty="0">
                <a:solidFill>
                  <a:srgbClr val="A86750"/>
                </a:solidFill>
                <a:latin typeface="Arial MT"/>
                <a:cs typeface="Arial MT"/>
              </a:rPr>
              <a:t> </a:t>
            </a:r>
            <a:r>
              <a:rPr sz="2850" spc="-969" dirty="0">
                <a:solidFill>
                  <a:srgbClr val="0E0E0E"/>
                </a:solidFill>
                <a:latin typeface="Arial MT"/>
                <a:cs typeface="Arial MT"/>
              </a:rPr>
              <a:t>EM</a:t>
            </a:r>
            <a:r>
              <a:rPr sz="2850" dirty="0">
                <a:solidFill>
                  <a:srgbClr val="0E0E0E"/>
                </a:solidFill>
                <a:latin typeface="Arial MT"/>
                <a:cs typeface="Arial MT"/>
              </a:rPr>
              <a:t>	</a:t>
            </a:r>
            <a:r>
              <a:rPr sz="2850" spc="-495" dirty="0">
                <a:solidFill>
                  <a:srgbClr val="0E0E0E"/>
                </a:solidFill>
                <a:latin typeface="Arial MT"/>
                <a:cs typeface="Arial MT"/>
              </a:rPr>
              <a:t>wc8</a:t>
            </a:r>
            <a:r>
              <a:rPr sz="2850" spc="-17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2850" spc="-295" dirty="0">
                <a:solidFill>
                  <a:srgbClr val="232323"/>
                </a:solidFill>
                <a:latin typeface="Arial MT"/>
                <a:cs typeface="Arial MT"/>
              </a:rPr>
              <a:t>tc&lt;+t</a:t>
            </a:r>
            <a:r>
              <a:rPr sz="2850" spc="-21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2850" spc="-640" dirty="0">
                <a:solidFill>
                  <a:srgbClr val="0A0A0A"/>
                </a:solidFill>
                <a:latin typeface="Arial MT"/>
                <a:cs typeface="Arial MT"/>
              </a:rPr>
              <a:t>c+rRE</a:t>
            </a:r>
            <a:r>
              <a:rPr sz="2850" dirty="0">
                <a:solidFill>
                  <a:srgbClr val="0A0A0A"/>
                </a:solidFill>
                <a:latin typeface="Arial MT"/>
                <a:cs typeface="Arial MT"/>
              </a:rPr>
              <a:t>	</a:t>
            </a:r>
            <a:r>
              <a:rPr sz="2850" spc="-665" dirty="0">
                <a:solidFill>
                  <a:srgbClr val="0A0A0A"/>
                </a:solidFill>
                <a:latin typeface="Arial MT"/>
                <a:cs typeface="Arial MT"/>
              </a:rPr>
              <a:t>E+cUas</a:t>
            </a:r>
            <a:endParaRPr sz="2850"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295376" y="3424427"/>
            <a:ext cx="3890772" cy="160477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813547" y="5138927"/>
            <a:ext cx="9372600" cy="54864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370832" y="6053327"/>
            <a:ext cx="749808" cy="768096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507991" y="6931152"/>
            <a:ext cx="566927" cy="67665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202935" y="6053327"/>
            <a:ext cx="722376" cy="164592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240779" y="5952743"/>
            <a:ext cx="1069848" cy="184251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543800" y="6067043"/>
            <a:ext cx="992124" cy="113842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195559" y="6048755"/>
            <a:ext cx="4631436" cy="176936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5110460" y="5870447"/>
            <a:ext cx="827532" cy="1115567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4491239" y="7929879"/>
            <a:ext cx="3468370" cy="1225550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240665" marR="282575" indent="-228600">
              <a:lnSpc>
                <a:spcPts val="2050"/>
              </a:lnSpc>
              <a:spcBef>
                <a:spcPts val="360"/>
              </a:spcBef>
            </a:pPr>
            <a:r>
              <a:rPr sz="1900" spc="-305" dirty="0">
                <a:solidFill>
                  <a:srgbClr val="388CA3"/>
                </a:solidFill>
                <a:latin typeface="Arial MT"/>
                <a:cs typeface="Arial MT"/>
              </a:rPr>
              <a:t>&gt;</a:t>
            </a:r>
            <a:r>
              <a:rPr sz="1900" spc="335" dirty="0">
                <a:solidFill>
                  <a:srgbClr val="388CA3"/>
                </a:solidFill>
                <a:latin typeface="Arial MT"/>
                <a:cs typeface="Arial MT"/>
              </a:rPr>
              <a:t> </a:t>
            </a:r>
            <a:r>
              <a:rPr sz="1900" spc="-155" dirty="0">
                <a:latin typeface="Arial MT"/>
                <a:cs typeface="Arial MT"/>
              </a:rPr>
              <a:t>LAUNCH</a:t>
            </a:r>
            <a:r>
              <a:rPr sz="1900" spc="2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MVP</a:t>
            </a:r>
            <a:r>
              <a:rPr sz="1900" spc="-20" dirty="0">
                <a:latin typeface="Arial MT"/>
                <a:cs typeface="Arial MT"/>
              </a:rPr>
              <a:t> </a:t>
            </a:r>
            <a:r>
              <a:rPr sz="1900" spc="-45" dirty="0">
                <a:solidFill>
                  <a:srgbClr val="0F0F0F"/>
                </a:solidFill>
                <a:latin typeface="Arial MT"/>
                <a:cs typeface="Arial MT"/>
              </a:rPr>
              <a:t>(APP</a:t>
            </a:r>
            <a:r>
              <a:rPr sz="1900" spc="4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0F0F0F"/>
                </a:solidFill>
                <a:latin typeface="Arial MT"/>
                <a:cs typeface="Arial MT"/>
              </a:rPr>
              <a:t>t</a:t>
            </a:r>
            <a:r>
              <a:rPr sz="1900" spc="14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900" spc="-160" dirty="0">
                <a:latin typeface="Arial MT"/>
                <a:cs typeface="Arial MT"/>
              </a:rPr>
              <a:t>USSD) </a:t>
            </a:r>
            <a:r>
              <a:rPr sz="1900" spc="-35" dirty="0">
                <a:latin typeface="Arial MT"/>
                <a:cs typeface="Arial MT"/>
              </a:rPr>
              <a:t>IN</a:t>
            </a:r>
            <a:r>
              <a:rPr sz="1900" spc="-105" dirty="0">
                <a:latin typeface="Arial MT"/>
                <a:cs typeface="Arial MT"/>
              </a:rPr>
              <a:t> </a:t>
            </a:r>
            <a:r>
              <a:rPr sz="1900" spc="-75" dirty="0">
                <a:latin typeface="Arial MT"/>
                <a:cs typeface="Arial MT"/>
              </a:rPr>
              <a:t>KAKUI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spc="-20" dirty="0">
                <a:latin typeface="Arial MT"/>
                <a:cs typeface="Arial MT"/>
              </a:rPr>
              <a:t>IA</a:t>
            </a:r>
            <a:r>
              <a:rPr sz="1900" spc="-85" dirty="0">
                <a:latin typeface="Arial MT"/>
                <a:cs typeface="Arial MT"/>
              </a:rPr>
              <a:t> </a:t>
            </a:r>
            <a:r>
              <a:rPr sz="1900" spc="-20" dirty="0">
                <a:solidFill>
                  <a:srgbClr val="131313"/>
                </a:solidFill>
                <a:latin typeface="Arial MT"/>
                <a:cs typeface="Arial MT"/>
              </a:rPr>
              <a:t>TOWN</a:t>
            </a:r>
            <a:endParaRPr sz="1900">
              <a:latin typeface="Arial MT"/>
              <a:cs typeface="Arial MT"/>
            </a:endParaRPr>
          </a:p>
          <a:p>
            <a:pPr marL="241935">
              <a:lnSpc>
                <a:spcPts val="2425"/>
              </a:lnSpc>
            </a:pPr>
            <a:r>
              <a:rPr sz="2100" spc="-315" dirty="0">
                <a:latin typeface="Arial MT"/>
                <a:cs typeface="Arial MT"/>
              </a:rPr>
              <a:t>ESTABLISH</a:t>
            </a:r>
            <a:r>
              <a:rPr sz="2100" spc="-55" dirty="0">
                <a:latin typeface="Arial MT"/>
                <a:cs typeface="Arial MT"/>
              </a:rPr>
              <a:t> </a:t>
            </a:r>
            <a:r>
              <a:rPr sz="2100" spc="-325" dirty="0">
                <a:latin typeface="Arial MT"/>
                <a:cs typeface="Arial MT"/>
              </a:rPr>
              <a:t>MARXET</a:t>
            </a:r>
            <a:r>
              <a:rPr sz="2100" spc="15" dirty="0">
                <a:latin typeface="Arial MT"/>
                <a:cs typeface="Arial MT"/>
              </a:rPr>
              <a:t> </a:t>
            </a:r>
            <a:r>
              <a:rPr sz="2100" spc="-415" dirty="0">
                <a:latin typeface="Arial MT"/>
                <a:cs typeface="Arial MT"/>
              </a:rPr>
              <a:t>PRESGNCE</a:t>
            </a:r>
            <a:endParaRPr sz="2100">
              <a:latin typeface="Arial MT"/>
              <a:cs typeface="Arial MT"/>
            </a:endParaRPr>
          </a:p>
          <a:p>
            <a:pPr marL="219710">
              <a:lnSpc>
                <a:spcPct val="100000"/>
              </a:lnSpc>
              <a:spcBef>
                <a:spcPts val="145"/>
              </a:spcBef>
            </a:pPr>
            <a:r>
              <a:rPr sz="3150" spc="-555" baseline="1000" dirty="0">
                <a:latin typeface="Arial MT"/>
                <a:cs typeface="Arial MT"/>
              </a:rPr>
              <a:t>USER</a:t>
            </a:r>
            <a:r>
              <a:rPr sz="3150" spc="52" baseline="1000" dirty="0">
                <a:latin typeface="Arial MT"/>
                <a:cs typeface="Arial MT"/>
              </a:rPr>
              <a:t> </a:t>
            </a:r>
            <a:r>
              <a:rPr sz="3150" spc="-262" baseline="3000" dirty="0">
                <a:latin typeface="Arial MT"/>
                <a:cs typeface="Arial MT"/>
              </a:rPr>
              <a:t>A</a:t>
            </a:r>
            <a:r>
              <a:rPr sz="2100" spc="-175" dirty="0">
                <a:latin typeface="Arial MT"/>
                <a:cs typeface="Arial MT"/>
              </a:rPr>
              <a:t>CQUiSl</a:t>
            </a:r>
            <a:r>
              <a:rPr sz="3150" spc="-262" baseline="3000" dirty="0">
                <a:latin typeface="Arial MT"/>
                <a:cs typeface="Arial MT"/>
              </a:rPr>
              <a:t>?ION</a:t>
            </a:r>
            <a:r>
              <a:rPr sz="3150" spc="-262" baseline="1000" dirty="0">
                <a:latin typeface="Arial MT"/>
                <a:cs typeface="Arial MT"/>
              </a:rPr>
              <a:t>8GGINS</a:t>
            </a:r>
            <a:endParaRPr sz="3150" baseline="10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864700" y="8016747"/>
            <a:ext cx="4455160" cy="1065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40"/>
              </a:lnSpc>
              <a:spcBef>
                <a:spcPts val="100"/>
              </a:spcBef>
            </a:pPr>
            <a:r>
              <a:rPr sz="1900" spc="-120" dirty="0">
                <a:latin typeface="Arial MT"/>
                <a:cs typeface="Arial MT"/>
              </a:rPr>
              <a:t>LAUNCH</a:t>
            </a:r>
            <a:r>
              <a:rPr sz="1900" spc="35" dirty="0">
                <a:latin typeface="Arial MT"/>
                <a:cs typeface="Arial MT"/>
              </a:rPr>
              <a:t> </a:t>
            </a:r>
            <a:r>
              <a:rPr sz="1900" spc="-175" dirty="0">
                <a:solidFill>
                  <a:srgbClr val="282828"/>
                </a:solidFill>
                <a:latin typeface="Arial MT"/>
                <a:cs typeface="Arial MT"/>
              </a:rPr>
              <a:t>B3</a:t>
            </a:r>
            <a:r>
              <a:rPr sz="1900" spc="-31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900" spc="-60" dirty="0">
                <a:latin typeface="Arial MT"/>
                <a:cs typeface="Arial MT"/>
              </a:rPr>
              <a:t>B</a:t>
            </a:r>
            <a:r>
              <a:rPr sz="1900" spc="-200" dirty="0">
                <a:latin typeface="Arial MT"/>
                <a:cs typeface="Arial MT"/>
              </a:rPr>
              <a:t> </a:t>
            </a:r>
            <a:r>
              <a:rPr sz="1900" spc="-60" dirty="0">
                <a:latin typeface="Arial MT"/>
                <a:cs typeface="Arial MT"/>
              </a:rPr>
              <a:t>NCD</a:t>
            </a:r>
            <a:r>
              <a:rPr sz="1900" spc="-20" dirty="0">
                <a:latin typeface="Arial MT"/>
                <a:cs typeface="Arial MT"/>
              </a:rPr>
              <a:t> </a:t>
            </a:r>
            <a:r>
              <a:rPr sz="1900" spc="-190" dirty="0">
                <a:latin typeface="Arial MT"/>
                <a:cs typeface="Arial MT"/>
              </a:rPr>
              <a:t>FLSET</a:t>
            </a:r>
            <a:r>
              <a:rPr sz="1900" spc="-80" dirty="0">
                <a:latin typeface="Arial MT"/>
                <a:cs typeface="Arial MT"/>
              </a:rPr>
              <a:t> </a:t>
            </a:r>
            <a:r>
              <a:rPr sz="1900" spc="-140" dirty="0">
                <a:latin typeface="Arial MT"/>
                <a:cs typeface="Arial MT"/>
              </a:rPr>
              <a:t>DASHBOA</a:t>
            </a:r>
            <a:r>
              <a:rPr sz="1900" spc="-95" dirty="0">
                <a:latin typeface="Arial MT"/>
                <a:cs typeface="Arial MT"/>
              </a:rPr>
              <a:t> </a:t>
            </a:r>
            <a:r>
              <a:rPr sz="1900" spc="-25" dirty="0">
                <a:solidFill>
                  <a:srgbClr val="0E0E0E"/>
                </a:solidFill>
                <a:latin typeface="Arial MT"/>
                <a:cs typeface="Arial MT"/>
              </a:rPr>
              <a:t>RD</a:t>
            </a:r>
            <a:endParaRPr sz="1900">
              <a:latin typeface="Arial MT"/>
              <a:cs typeface="Arial MT"/>
            </a:endParaRPr>
          </a:p>
          <a:p>
            <a:pPr marL="16510">
              <a:lnSpc>
                <a:spcPts val="3600"/>
              </a:lnSpc>
            </a:pPr>
            <a:r>
              <a:rPr sz="3200" spc="-320" dirty="0">
                <a:latin typeface="Arial MT"/>
                <a:cs typeface="Arial MT"/>
              </a:rPr>
              <a:t>owuizsrus</a:t>
            </a:r>
            <a:r>
              <a:rPr sz="3200" spc="-25" dirty="0">
                <a:latin typeface="Arial MT"/>
                <a:cs typeface="Arial MT"/>
              </a:rPr>
              <a:t>  </a:t>
            </a:r>
            <a:r>
              <a:rPr sz="3200" spc="-335" dirty="0">
                <a:latin typeface="Arial MT"/>
                <a:cs typeface="Arial MT"/>
              </a:rPr>
              <a:t>srricirucvroexiooocs</a:t>
            </a:r>
            <a:endParaRPr sz="3200">
              <a:latin typeface="Arial MT"/>
              <a:cs typeface="Arial MT"/>
            </a:endParaRPr>
          </a:p>
          <a:p>
            <a:pPr marL="19050">
              <a:lnSpc>
                <a:spcPct val="100000"/>
              </a:lnSpc>
              <a:spcBef>
                <a:spcPts val="30"/>
              </a:spcBef>
            </a:pPr>
            <a:r>
              <a:rPr sz="2100" spc="-254" dirty="0">
                <a:latin typeface="Arial MT"/>
                <a:cs typeface="Arial MT"/>
              </a:rPr>
              <a:t>5TREAkILINED</a:t>
            </a:r>
            <a:r>
              <a:rPr sz="2100" spc="100" dirty="0">
                <a:latin typeface="Arial MT"/>
                <a:cs typeface="Arial MT"/>
              </a:rPr>
              <a:t> </a:t>
            </a:r>
            <a:r>
              <a:rPr sz="2100" spc="-330" dirty="0">
                <a:latin typeface="Arial MT"/>
                <a:cs typeface="Arial MT"/>
              </a:rPr>
              <a:t>LOGISTICS</a:t>
            </a:r>
            <a:r>
              <a:rPr sz="2100" spc="254" dirty="0">
                <a:latin typeface="Arial MT"/>
                <a:cs typeface="Arial MT"/>
              </a:rPr>
              <a:t> </a:t>
            </a:r>
            <a:r>
              <a:rPr sz="2100" spc="-180" dirty="0">
                <a:solidFill>
                  <a:srgbClr val="606060"/>
                </a:solidFill>
                <a:latin typeface="Arial MT"/>
                <a:cs typeface="Arial MT"/>
              </a:rPr>
              <a:t>6</a:t>
            </a:r>
            <a:r>
              <a:rPr sz="2100" spc="-75" dirty="0">
                <a:solidFill>
                  <a:srgbClr val="606060"/>
                </a:solidFill>
                <a:latin typeface="Arial MT"/>
                <a:cs typeface="Arial MT"/>
              </a:rPr>
              <a:t> </a:t>
            </a:r>
            <a:r>
              <a:rPr sz="2100" spc="-330" dirty="0">
                <a:latin typeface="Arial MT"/>
                <a:cs typeface="Arial MT"/>
              </a:rPr>
              <a:t>BEPOPTING</a:t>
            </a:r>
            <a:endParaRPr sz="2100">
              <a:latin typeface="Arial MT"/>
              <a:cs typeface="Arial MT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6386047" y="9272015"/>
            <a:ext cx="1207007" cy="1920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18288000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6740" y="552267"/>
              <a:ext cx="16992599" cy="9267824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3665913" y="7559370"/>
            <a:ext cx="1163320" cy="2908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Developer</a:t>
            </a:r>
            <a:endParaRPr sz="17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949182" y="8178935"/>
            <a:ext cx="2597150" cy="5842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 marR="5080" indent="-635" algn="ctr">
              <a:lnSpc>
                <a:spcPct val="116000"/>
              </a:lnSpc>
              <a:spcBef>
                <a:spcPts val="90"/>
              </a:spcBef>
            </a:pPr>
            <a:r>
              <a:rPr sz="10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Lorem</a:t>
            </a:r>
            <a:r>
              <a:rPr sz="1050" spc="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050" spc="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ipsum</a:t>
            </a:r>
            <a:r>
              <a:rPr sz="1050" spc="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0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dolor</a:t>
            </a:r>
            <a:r>
              <a:rPr sz="1050" spc="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0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sit</a:t>
            </a:r>
            <a:r>
              <a:rPr sz="1050" spc="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05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amet, </a:t>
            </a:r>
            <a:r>
              <a:rPr sz="10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consectetur</a:t>
            </a:r>
            <a:r>
              <a:rPr sz="1050" spc="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0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adipiscing</a:t>
            </a:r>
            <a:r>
              <a:rPr sz="1050" spc="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elit.</a:t>
            </a:r>
            <a:r>
              <a:rPr sz="1050" spc="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050" spc="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Donec</a:t>
            </a:r>
            <a:r>
              <a:rPr sz="1050" spc="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05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ut </a:t>
            </a:r>
            <a:r>
              <a:rPr sz="1050" spc="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pretium</a:t>
            </a:r>
            <a:r>
              <a:rPr sz="105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purus.</a:t>
            </a:r>
            <a:endParaRPr sz="105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148342" y="596138"/>
            <a:ext cx="2374900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50" spc="-825" dirty="0">
                <a:solidFill>
                  <a:srgbClr val="2F93AE"/>
                </a:solidFill>
                <a:latin typeface="Arial MT"/>
                <a:cs typeface="Arial MT"/>
              </a:rPr>
              <a:t>’@</a:t>
            </a:r>
            <a:r>
              <a:rPr sz="3450" spc="50" dirty="0">
                <a:solidFill>
                  <a:srgbClr val="2F93AE"/>
                </a:solidFill>
                <a:latin typeface="Arial MT"/>
                <a:cs typeface="Arial MT"/>
              </a:rPr>
              <a:t> </a:t>
            </a:r>
            <a:r>
              <a:rPr sz="3450" spc="-135" dirty="0">
                <a:solidFill>
                  <a:srgbClr val="363636"/>
                </a:solidFill>
                <a:latin typeface="Arial MT"/>
                <a:cs typeface="Arial MT"/>
              </a:rPr>
              <a:t>kakumago</a:t>
            </a:r>
            <a:endParaRPr sz="345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5339060" y="726947"/>
            <a:ext cx="1965959" cy="841247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1227" y="2176271"/>
            <a:ext cx="16664940" cy="7557516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956175" y="1299971"/>
            <a:ext cx="14417040" cy="924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900" spc="-345" dirty="0">
                <a:solidFill>
                  <a:srgbClr val="112854"/>
                </a:solidFill>
                <a:latin typeface="Arial MT"/>
                <a:cs typeface="Arial MT"/>
              </a:rPr>
              <a:t>SOLVING</a:t>
            </a:r>
            <a:r>
              <a:rPr sz="5900" spc="320" dirty="0">
                <a:solidFill>
                  <a:srgbClr val="112854"/>
                </a:solidFill>
                <a:latin typeface="Arial MT"/>
                <a:cs typeface="Arial MT"/>
              </a:rPr>
              <a:t> </a:t>
            </a:r>
            <a:r>
              <a:rPr sz="5900" spc="-235" dirty="0">
                <a:solidFill>
                  <a:srgbClr val="112652"/>
                </a:solidFill>
                <a:latin typeface="Arial MT"/>
                <a:cs typeface="Arial MT"/>
              </a:rPr>
              <a:t>THE</a:t>
            </a:r>
            <a:r>
              <a:rPr sz="5900" spc="-150" dirty="0">
                <a:solidFill>
                  <a:srgbClr val="112652"/>
                </a:solidFill>
                <a:latin typeface="Arial MT"/>
                <a:cs typeface="Arial MT"/>
              </a:rPr>
              <a:t> </a:t>
            </a:r>
            <a:r>
              <a:rPr sz="5900" spc="-270" dirty="0">
                <a:solidFill>
                  <a:srgbClr val="1C315B"/>
                </a:solidFill>
                <a:latin typeface="Arial MT"/>
                <a:cs typeface="Arial MT"/>
              </a:rPr>
              <a:t>CHICKEN</a:t>
            </a:r>
            <a:r>
              <a:rPr sz="5900" spc="275" dirty="0">
                <a:solidFill>
                  <a:srgbClr val="1C315B"/>
                </a:solidFill>
                <a:latin typeface="Arial MT"/>
                <a:cs typeface="Arial MT"/>
              </a:rPr>
              <a:t> </a:t>
            </a:r>
            <a:r>
              <a:rPr sz="5900" dirty="0">
                <a:solidFill>
                  <a:srgbClr val="0C2656"/>
                </a:solidFill>
                <a:latin typeface="Arial MT"/>
                <a:cs typeface="Arial MT"/>
              </a:rPr>
              <a:t>&amp;</a:t>
            </a:r>
            <a:r>
              <a:rPr sz="5900" spc="-114" dirty="0">
                <a:solidFill>
                  <a:srgbClr val="0C2656"/>
                </a:solidFill>
                <a:latin typeface="Arial MT"/>
                <a:cs typeface="Arial MT"/>
              </a:rPr>
              <a:t> </a:t>
            </a:r>
            <a:r>
              <a:rPr sz="5900" spc="-575" dirty="0">
                <a:solidFill>
                  <a:srgbClr val="0A2344"/>
                </a:solidFill>
                <a:latin typeface="Arial MT"/>
                <a:cs typeface="Arial MT"/>
              </a:rPr>
              <a:t>EGG</a:t>
            </a:r>
            <a:r>
              <a:rPr sz="5900" spc="40" dirty="0">
                <a:solidFill>
                  <a:srgbClr val="0A2344"/>
                </a:solidFill>
                <a:latin typeface="Arial MT"/>
                <a:cs typeface="Arial MT"/>
              </a:rPr>
              <a:t> </a:t>
            </a:r>
            <a:r>
              <a:rPr sz="5900" spc="-85" dirty="0">
                <a:solidFill>
                  <a:srgbClr val="132D56"/>
                </a:solidFill>
                <a:latin typeface="Arial MT"/>
                <a:cs typeface="Arial MT"/>
              </a:rPr>
              <a:t>PROBLEM.</a:t>
            </a:r>
            <a:endParaRPr sz="59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59709" y="2546095"/>
            <a:ext cx="468820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dirty="0">
                <a:solidFill>
                  <a:srgbClr val="2366A3"/>
                </a:solidFill>
                <a:latin typeface="Arial MT"/>
                <a:cs typeface="Arial MT"/>
              </a:rPr>
              <a:t>SU</a:t>
            </a:r>
            <a:r>
              <a:rPr sz="5850" baseline="1000" dirty="0">
                <a:solidFill>
                  <a:srgbClr val="2366A3"/>
                </a:solidFill>
                <a:latin typeface="Arial MT"/>
                <a:cs typeface="Arial MT"/>
              </a:rPr>
              <a:t>PPLY</a:t>
            </a:r>
            <a:r>
              <a:rPr sz="5850" spc="22" baseline="1000" dirty="0">
                <a:solidFill>
                  <a:srgbClr val="2366A3"/>
                </a:solidFill>
                <a:latin typeface="Arial MT"/>
                <a:cs typeface="Arial MT"/>
              </a:rPr>
              <a:t> </a:t>
            </a:r>
            <a:r>
              <a:rPr sz="3900" spc="-10" dirty="0">
                <a:solidFill>
                  <a:srgbClr val="0F214B"/>
                </a:solidFill>
                <a:latin typeface="Arial MT"/>
                <a:cs typeface="Arial MT"/>
              </a:rPr>
              <a:t>(DRIVERS)</a:t>
            </a:r>
            <a:endParaRPr sz="39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319285" y="2541523"/>
            <a:ext cx="4930775" cy="1496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spc="-495" dirty="0">
                <a:solidFill>
                  <a:srgbClr val="2DAAA1"/>
                </a:solidFill>
                <a:latin typeface="Arial MT"/>
                <a:cs typeface="Arial MT"/>
              </a:rPr>
              <a:t>-</a:t>
            </a:r>
            <a:r>
              <a:rPr sz="3900" spc="125" dirty="0">
                <a:solidFill>
                  <a:srgbClr val="2DAAA1"/>
                </a:solidFill>
                <a:latin typeface="Arial MT"/>
                <a:cs typeface="Arial MT"/>
              </a:rPr>
              <a:t> </a:t>
            </a:r>
            <a:r>
              <a:rPr sz="3900" spc="105" dirty="0">
                <a:solidFill>
                  <a:srgbClr val="167E7E"/>
                </a:solidFill>
                <a:latin typeface="Arial MT"/>
                <a:cs typeface="Arial MT"/>
              </a:rPr>
              <a:t>DEMAND</a:t>
            </a:r>
            <a:r>
              <a:rPr sz="3900" spc="280" dirty="0">
                <a:solidFill>
                  <a:srgbClr val="167E7E"/>
                </a:solidFill>
                <a:latin typeface="Arial MT"/>
                <a:cs typeface="Arial MT"/>
              </a:rPr>
              <a:t> </a:t>
            </a:r>
            <a:r>
              <a:rPr sz="3900" spc="-10" dirty="0">
                <a:solidFill>
                  <a:srgbClr val="1D4949"/>
                </a:solidFill>
                <a:latin typeface="Arial MT"/>
                <a:cs typeface="Arial MT"/>
              </a:rPr>
              <a:t>(RI</a:t>
            </a:r>
            <a:r>
              <a:rPr sz="5850" spc="-15" baseline="1000" dirty="0">
                <a:solidFill>
                  <a:srgbClr val="1D4949"/>
                </a:solidFill>
                <a:latin typeface="Arial MT"/>
                <a:cs typeface="Arial MT"/>
              </a:rPr>
              <a:t>DE</a:t>
            </a:r>
            <a:r>
              <a:rPr sz="3900" spc="-10" dirty="0">
                <a:solidFill>
                  <a:srgbClr val="1D4949"/>
                </a:solidFill>
                <a:latin typeface="Arial MT"/>
                <a:cs typeface="Arial MT"/>
              </a:rPr>
              <a:t>RS)</a:t>
            </a:r>
            <a:endParaRPr sz="3900">
              <a:latin typeface="Arial MT"/>
              <a:cs typeface="Arial MT"/>
            </a:endParaRPr>
          </a:p>
          <a:p>
            <a:pPr marR="342900" algn="ctr">
              <a:lnSpc>
                <a:spcPct val="100000"/>
              </a:lnSpc>
              <a:spcBef>
                <a:spcPts val="2940"/>
              </a:spcBef>
            </a:pPr>
            <a:r>
              <a:rPr sz="3300" spc="-645" dirty="0">
                <a:solidFill>
                  <a:srgbClr val="449C46"/>
                </a:solidFill>
                <a:latin typeface="Arial MT"/>
                <a:cs typeface="Arial MT"/>
              </a:rPr>
              <a:t>M—</a:t>
            </a:r>
            <a:r>
              <a:rPr sz="3300" spc="-434" dirty="0">
                <a:solidFill>
                  <a:srgbClr val="449C46"/>
                </a:solidFill>
                <a:latin typeface="Arial MT"/>
                <a:cs typeface="Arial MT"/>
              </a:rPr>
              <a:t>•PESA</a:t>
            </a:r>
            <a:endParaRPr sz="33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03620" y="3986783"/>
            <a:ext cx="1229868" cy="67208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039848" y="4688077"/>
            <a:ext cx="132588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-195" dirty="0">
                <a:solidFill>
                  <a:srgbClr val="151515"/>
                </a:solidFill>
                <a:latin typeface="Arial Black" panose="020B0A04020102020204"/>
                <a:cs typeface="Arial Black" panose="020B0A04020102020204"/>
              </a:rPr>
              <a:t>COMMISSION</a:t>
            </a:r>
            <a:endParaRPr sz="165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296147" y="5338317"/>
            <a:ext cx="1657985" cy="10801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97790" marR="5080" indent="-85725" algn="just">
              <a:lnSpc>
                <a:spcPct val="75000"/>
              </a:lnSpc>
              <a:spcBef>
                <a:spcPts val="900"/>
              </a:spcBef>
            </a:pPr>
            <a:r>
              <a:rPr sz="2650" spc="-114" dirty="0">
                <a:latin typeface="Arial MT"/>
                <a:cs typeface="Arial MT"/>
              </a:rPr>
              <a:t>COHESIVE </a:t>
            </a:r>
            <a:r>
              <a:rPr sz="3000" spc="-10" dirty="0">
                <a:latin typeface="Arial MT"/>
                <a:cs typeface="Arial MT"/>
              </a:rPr>
              <a:t>MARK£T </a:t>
            </a:r>
            <a:r>
              <a:rPr sz="2700" spc="-35" dirty="0">
                <a:latin typeface="Arial MT"/>
                <a:cs typeface="Arial MT"/>
              </a:rPr>
              <a:t>GROWTH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16152" y="7013193"/>
            <a:ext cx="4256405" cy="973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730"/>
              </a:lnSpc>
              <a:spcBef>
                <a:spcPts val="100"/>
              </a:spcBef>
              <a:tabLst>
                <a:tab pos="623570" algn="l"/>
              </a:tabLst>
            </a:pPr>
            <a:r>
              <a:rPr sz="3250" spc="-50" dirty="0">
                <a:solidFill>
                  <a:srgbClr val="1C72AE"/>
                </a:solidFill>
                <a:latin typeface="Arial MT"/>
                <a:cs typeface="Arial MT"/>
              </a:rPr>
              <a:t>0</a:t>
            </a:r>
            <a:r>
              <a:rPr sz="3250" dirty="0">
                <a:solidFill>
                  <a:srgbClr val="1C72AE"/>
                </a:solidFill>
                <a:latin typeface="Arial MT"/>
                <a:cs typeface="Arial MT"/>
              </a:rPr>
              <a:t>	</a:t>
            </a:r>
            <a:r>
              <a:rPr sz="3250" spc="-275" dirty="0">
                <a:latin typeface="Arial MT"/>
                <a:cs typeface="Arial MT"/>
              </a:rPr>
              <a:t>ZERO</a:t>
            </a:r>
            <a:r>
              <a:rPr sz="3250" spc="60" dirty="0">
                <a:latin typeface="Arial MT"/>
                <a:cs typeface="Arial MT"/>
              </a:rPr>
              <a:t> </a:t>
            </a:r>
            <a:r>
              <a:rPr sz="3250" spc="-170" dirty="0">
                <a:latin typeface="Arial MT"/>
                <a:cs typeface="Arial MT"/>
              </a:rPr>
              <a:t>COMMISSION</a:t>
            </a:r>
            <a:endParaRPr sz="3250">
              <a:latin typeface="Arial MT"/>
              <a:cs typeface="Arial MT"/>
            </a:endParaRPr>
          </a:p>
          <a:p>
            <a:pPr marL="598170">
              <a:lnSpc>
                <a:spcPts val="3730"/>
              </a:lnSpc>
            </a:pPr>
            <a:r>
              <a:rPr sz="3250" spc="-280" dirty="0">
                <a:latin typeface="Arial MT"/>
                <a:cs typeface="Arial MT"/>
              </a:rPr>
              <a:t>FOR</a:t>
            </a:r>
            <a:r>
              <a:rPr sz="3250" spc="165" dirty="0">
                <a:latin typeface="Arial MT"/>
                <a:cs typeface="Arial MT"/>
              </a:rPr>
              <a:t> </a:t>
            </a:r>
            <a:r>
              <a:rPr sz="3250" spc="-200" dirty="0">
                <a:latin typeface="Arial MT"/>
                <a:cs typeface="Arial MT"/>
              </a:rPr>
              <a:t>MONTH</a:t>
            </a:r>
            <a:r>
              <a:rPr sz="3250" spc="-204" dirty="0">
                <a:latin typeface="Arial MT"/>
                <a:cs typeface="Arial MT"/>
              </a:rPr>
              <a:t> </a:t>
            </a:r>
            <a:r>
              <a:rPr sz="3250" spc="-25" dirty="0">
                <a:latin typeface="Arial MT"/>
                <a:cs typeface="Arial MT"/>
              </a:rPr>
              <a:t>1.</a:t>
            </a:r>
            <a:endParaRPr sz="32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74031" y="8121395"/>
            <a:ext cx="6644005" cy="9696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625"/>
              </a:lnSpc>
              <a:spcBef>
                <a:spcPts val="100"/>
              </a:spcBef>
            </a:pPr>
            <a:r>
              <a:rPr sz="3200" spc="-390" dirty="0">
                <a:solidFill>
                  <a:srgbClr val="1870B6"/>
                </a:solidFill>
                <a:latin typeface="Arial MT"/>
                <a:cs typeface="Arial MT"/>
              </a:rPr>
              <a:t>@</a:t>
            </a:r>
            <a:r>
              <a:rPr sz="3200" spc="220" dirty="0">
                <a:solidFill>
                  <a:srgbClr val="1870B6"/>
                </a:solidFill>
                <a:latin typeface="Arial MT"/>
                <a:cs typeface="Arial MT"/>
              </a:rPr>
              <a:t> </a:t>
            </a:r>
            <a:r>
              <a:rPr sz="3200" spc="-170" dirty="0">
                <a:latin typeface="Arial MT"/>
                <a:cs typeface="Arial MT"/>
              </a:rPr>
              <a:t>PARTNER</a:t>
            </a:r>
            <a:r>
              <a:rPr sz="3200" spc="229" dirty="0">
                <a:latin typeface="Arial MT"/>
                <a:cs typeface="Arial MT"/>
              </a:rPr>
              <a:t> </a:t>
            </a:r>
            <a:r>
              <a:rPr sz="3200" spc="-55" dirty="0">
                <a:latin typeface="Arial MT"/>
                <a:cs typeface="Arial MT"/>
              </a:rPr>
              <a:t>WITH</a:t>
            </a:r>
            <a:r>
              <a:rPr sz="3200" spc="-170" dirty="0">
                <a:latin typeface="Arial MT"/>
                <a:cs typeface="Arial MT"/>
              </a:rPr>
              <a:t> </a:t>
            </a:r>
            <a:r>
              <a:rPr sz="3200" spc="-265" dirty="0">
                <a:latin typeface="Arial MT"/>
                <a:cs typeface="Arial MT"/>
              </a:rPr>
              <a:t>STAGE</a:t>
            </a:r>
            <a:r>
              <a:rPr sz="3200" spc="45" dirty="0">
                <a:latin typeface="Arial MT"/>
                <a:cs typeface="Arial MT"/>
              </a:rPr>
              <a:t> </a:t>
            </a:r>
            <a:r>
              <a:rPr sz="3200" spc="-265" dirty="0">
                <a:latin typeface="Arial MT"/>
                <a:cs typeface="Arial MT"/>
              </a:rPr>
              <a:t>LEADEI2S</a:t>
            </a:r>
            <a:endParaRPr sz="3200">
              <a:latin typeface="Arial MT"/>
              <a:cs typeface="Arial MT"/>
            </a:endParaRPr>
          </a:p>
          <a:p>
            <a:pPr marL="539115">
              <a:lnSpc>
                <a:spcPts val="3805"/>
              </a:lnSpc>
            </a:pPr>
            <a:r>
              <a:rPr sz="3350" spc="-360" dirty="0">
                <a:latin typeface="Arial MT"/>
                <a:cs typeface="Arial MT"/>
              </a:rPr>
              <a:t>FOR</a:t>
            </a:r>
            <a:r>
              <a:rPr sz="3350" spc="85" dirty="0">
                <a:latin typeface="Arial MT"/>
                <a:cs typeface="Arial MT"/>
              </a:rPr>
              <a:t> </a:t>
            </a:r>
            <a:r>
              <a:rPr sz="3350" spc="-275" dirty="0">
                <a:latin typeface="Arial MT"/>
                <a:cs typeface="Arial MT"/>
              </a:rPr>
              <a:t>INSTANT</a:t>
            </a:r>
            <a:r>
              <a:rPr sz="3350" spc="155" dirty="0">
                <a:latin typeface="Arial MT"/>
                <a:cs typeface="Arial MT"/>
              </a:rPr>
              <a:t> </a:t>
            </a:r>
            <a:r>
              <a:rPr sz="3350" spc="-340" dirty="0">
                <a:latin typeface="Arial MT"/>
                <a:cs typeface="Arial MT"/>
              </a:rPr>
              <a:t>TRUST.</a:t>
            </a:r>
            <a:endParaRPr sz="33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426696" y="7025893"/>
            <a:ext cx="5315585" cy="206121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574675" marR="5080" indent="3810">
              <a:lnSpc>
                <a:spcPts val="3600"/>
              </a:lnSpc>
              <a:spcBef>
                <a:spcPts val="370"/>
              </a:spcBef>
            </a:pPr>
            <a:r>
              <a:rPr sz="3150" spc="-185" dirty="0">
                <a:latin typeface="Arial MT"/>
                <a:cs typeface="Arial MT"/>
              </a:rPr>
              <a:t>Q@USSD</a:t>
            </a:r>
            <a:r>
              <a:rPr sz="3150" spc="15" dirty="0">
                <a:latin typeface="Arial MT"/>
                <a:cs typeface="Arial MT"/>
              </a:rPr>
              <a:t> </a:t>
            </a:r>
            <a:r>
              <a:rPr sz="3150" spc="-229" dirty="0">
                <a:latin typeface="Arial MT"/>
                <a:cs typeface="Arial MT"/>
              </a:rPr>
              <a:t>FLYERS</a:t>
            </a:r>
            <a:r>
              <a:rPr sz="3150" spc="35" dirty="0">
                <a:latin typeface="Arial MT"/>
                <a:cs typeface="Arial MT"/>
              </a:rPr>
              <a:t> </a:t>
            </a:r>
            <a:r>
              <a:rPr sz="3150" spc="-170" dirty="0">
                <a:latin typeface="Arial MT"/>
                <a:cs typeface="Arial MT"/>
              </a:rPr>
              <a:t>AT</a:t>
            </a:r>
            <a:r>
              <a:rPr sz="3150" spc="-135" dirty="0">
                <a:latin typeface="Arial MT"/>
                <a:cs typeface="Arial MT"/>
              </a:rPr>
              <a:t> </a:t>
            </a:r>
            <a:r>
              <a:rPr sz="3150" spc="-25" dirty="0">
                <a:latin typeface="Arial MT"/>
                <a:cs typeface="Arial MT"/>
              </a:rPr>
              <a:t>CBO </a:t>
            </a:r>
            <a:r>
              <a:rPr sz="3150" spc="-140" dirty="0">
                <a:latin typeface="Arial MT"/>
                <a:cs typeface="Arial MT"/>
              </a:rPr>
              <a:t>GAT</a:t>
            </a:r>
            <a:r>
              <a:rPr sz="4725" spc="-209" baseline="3000" dirty="0">
                <a:latin typeface="Arial MT"/>
                <a:cs typeface="Arial MT"/>
              </a:rPr>
              <a:t>E</a:t>
            </a:r>
            <a:r>
              <a:rPr sz="3150" spc="-140" dirty="0">
                <a:latin typeface="Arial MT"/>
                <a:cs typeface="Arial MT"/>
              </a:rPr>
              <a:t>S</a:t>
            </a:r>
            <a:r>
              <a:rPr sz="3150" spc="-515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&amp;</a:t>
            </a:r>
            <a:r>
              <a:rPr sz="3150" spc="-155" dirty="0">
                <a:latin typeface="Arial MT"/>
                <a:cs typeface="Arial MT"/>
              </a:rPr>
              <a:t> </a:t>
            </a:r>
            <a:r>
              <a:rPr sz="3150" spc="-10" dirty="0">
                <a:latin typeface="Arial MT"/>
                <a:cs typeface="Arial MT"/>
              </a:rPr>
              <a:t>MARKETS.</a:t>
            </a:r>
            <a:endParaRPr sz="3150">
              <a:latin typeface="Arial MT"/>
              <a:cs typeface="Arial MT"/>
            </a:endParaRPr>
          </a:p>
          <a:p>
            <a:pPr marL="12700">
              <a:lnSpc>
                <a:spcPts val="3590"/>
              </a:lnSpc>
              <a:spcBef>
                <a:spcPts val="1255"/>
              </a:spcBef>
            </a:pPr>
            <a:r>
              <a:rPr sz="3100" dirty="0">
                <a:solidFill>
                  <a:srgbClr val="0CA7A8"/>
                </a:solidFill>
                <a:latin typeface="Arial MT"/>
                <a:cs typeface="Arial MT"/>
              </a:rPr>
              <a:t>@</a:t>
            </a:r>
            <a:r>
              <a:rPr sz="3100" spc="434" dirty="0">
                <a:solidFill>
                  <a:srgbClr val="0CA7A8"/>
                </a:solidFill>
                <a:latin typeface="Arial MT"/>
                <a:cs typeface="Arial MT"/>
              </a:rPr>
              <a:t> </a:t>
            </a:r>
            <a:r>
              <a:rPr sz="3100" spc="-85" dirty="0">
                <a:latin typeface="Arial MT"/>
                <a:cs typeface="Arial MT"/>
              </a:rPr>
              <a:t>M-</a:t>
            </a:r>
            <a:r>
              <a:rPr sz="3100" spc="-25" dirty="0">
                <a:latin typeface="Arial MT"/>
                <a:cs typeface="Arial MT"/>
              </a:rPr>
              <a:t>PESA</a:t>
            </a:r>
            <a:r>
              <a:rPr sz="3100" spc="-110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CASHBACK</a:t>
            </a:r>
            <a:endParaRPr sz="3100">
              <a:latin typeface="Arial MT"/>
              <a:cs typeface="Arial MT"/>
            </a:endParaRPr>
          </a:p>
          <a:p>
            <a:pPr marL="586740">
              <a:lnSpc>
                <a:spcPts val="3710"/>
              </a:lnSpc>
            </a:pPr>
            <a:r>
              <a:rPr sz="3200" spc="-210" dirty="0">
                <a:latin typeface="Arial MT"/>
                <a:cs typeface="Arial MT"/>
              </a:rPr>
              <a:t>REFERRAL</a:t>
            </a:r>
            <a:r>
              <a:rPr sz="3200" spc="2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LOOPS.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029432" y="8133588"/>
            <a:ext cx="1165859" cy="17373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5906255" y="9100311"/>
            <a:ext cx="15678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0" dirty="0">
                <a:solidFill>
                  <a:srgbClr val="212121"/>
                </a:solidFill>
                <a:latin typeface="Arial MT"/>
                <a:cs typeface="Arial MT"/>
              </a:rPr>
              <a:t>kakumago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52235" y="723171"/>
            <a:ext cx="16421099" cy="88391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305480" y="217897"/>
            <a:ext cx="15982949" cy="871537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452944" y="9455360"/>
            <a:ext cx="568706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robenbadradin@gmail.com</a:t>
            </a:r>
            <a:endParaRPr sz="34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3055</Words>
  <Application>WPS Presentation</Application>
  <PresentationFormat>On-screen Show (4:3)</PresentationFormat>
  <Paragraphs>140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SimSun</vt:lpstr>
      <vt:lpstr>Wingdings</vt:lpstr>
      <vt:lpstr>Arial Black</vt:lpstr>
      <vt:lpstr>Arial MT</vt:lpstr>
      <vt:lpstr>Verdana</vt:lpstr>
      <vt:lpstr>Microsoft Sans Serif</vt:lpstr>
      <vt:lpstr>Microsoft YaHei</vt:lpstr>
      <vt:lpstr>Arial Unicode MS</vt:lpstr>
      <vt:lpstr>Calibri</vt:lpstr>
      <vt:lpstr>Office Theme</vt:lpstr>
      <vt:lpstr>PowerPoint 演示文稿</vt:lpstr>
      <vt:lpstr>app name is kakumago</vt:lpstr>
      <vt:lpstr>Built for the Realities of Turkana.</vt:lpstr>
      <vt:lpstr>Who Needs Reliable Rides?</vt:lpstr>
      <vt:lpstr>A Captive, Growing Mobility Market</vt:lpstr>
      <vt:lpstr>The Transport Landscape.</vt:lpstr>
      <vt:lpstr>OUR UHFAIR ADVANTAGE.</vt:lpstr>
      <vt:lpstr>ENTU</vt:lpstr>
      <vt:lpstr>PowerPoint 演示文稿</vt:lpstr>
      <vt:lpstr>SOLVING THE CHICKEN &amp; EGG PROBLEM.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and White Clean Geometric Startup Pitch Deck Presentation</dc:title>
  <dc:creator>ROBEN BADRADIN</dc:creator>
  <cp:keywords>DAHWR5XP4vo,BAFojdtGNxI</cp:keywords>
  <cp:lastModifiedBy>ROBEN BADRADIN</cp:lastModifiedBy>
  <cp:revision>1</cp:revision>
  <dcterms:created xsi:type="dcterms:W3CDTF">2026-09-28T09:47:18Z</dcterms:created>
  <dcterms:modified xsi:type="dcterms:W3CDTF">2026-09-28T09:47:18Z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2026-09-28T03:00:00Z</vt:filetime>
  </property>
  <property fmtid="{D5CDD505-2E9C-101B-9397-08002B2CF9AE}" pid="4" name="Creator">
    <vt:lpwstr>Canva</vt:lpwstr>
  </property>
  <property fmtid="{D5CDD505-2E9C-101B-9397-08002B2CF9AE}" pid="5" name="LastSaved">
    <vt:filetime>2026-09-28T03:00:00Z</vt:filetime>
  </property>
  <property fmtid="{D5CDD505-2E9C-101B-9397-08002B2CF9AE}" pid="6" name="Producer">
    <vt:lpwstr>Canva</vt:lpwstr>
  </property>
  <property fmtid="{D5CDD505-2E9C-101B-9397-08002B2CF9AE}" pid="7" name="ICV">
    <vt:lpwstr>156E6BF49C064343BCCE00E72B89FB43_13</vt:lpwstr>
  </property>
  <property fmtid="{D5CDD505-2E9C-101B-9397-08002B2CF9AE}" pid="8" name="KSOProductBuildVer">
    <vt:lpwstr>1033-12.1.0.28485</vt:lpwstr>
  </property>
</Properties>
</file>